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8" r:id="rId3"/>
    <p:sldId id="259" r:id="rId4"/>
    <p:sldId id="263" r:id="rId5"/>
    <p:sldId id="260" r:id="rId6"/>
    <p:sldId id="261" r:id="rId7"/>
    <p:sldId id="262" r:id="rId8"/>
    <p:sldId id="264" r:id="rId9"/>
    <p:sldId id="265" r:id="rId10"/>
    <p:sldId id="266" r:id="rId11"/>
    <p:sldId id="267" r:id="rId12"/>
    <p:sldId id="268" r:id="rId13"/>
    <p:sldId id="269" r:id="rId14"/>
    <p:sldId id="270" r:id="rId15"/>
    <p:sldId id="272" r:id="rId16"/>
    <p:sldId id="271" r:id="rId17"/>
    <p:sldId id="273" r:id="rId18"/>
    <p:sldId id="274" r:id="rId19"/>
    <p:sldId id="275" r:id="rId20"/>
    <p:sldId id="276" r:id="rId21"/>
    <p:sldId id="277" r:id="rId22"/>
    <p:sldId id="278" r:id="rId23"/>
    <p:sldId id="279" r:id="rId24"/>
    <p:sldId id="281" r:id="rId25"/>
    <p:sldId id="280" r:id="rId26"/>
    <p:sldId id="282" r:id="rId27"/>
    <p:sldId id="25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880"/>
  </p:normalViewPr>
  <p:slideViewPr>
    <p:cSldViewPr snapToGrid="0">
      <p:cViewPr varScale="1">
        <p:scale>
          <a:sx n="84" d="100"/>
          <a:sy n="84" d="100"/>
        </p:scale>
        <p:origin x="21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6505B9-E52A-2B47-879A-F903068CCA4F}" type="datetimeFigureOut">
              <a:rPr lang="en-US" smtClean="0"/>
              <a:t>10/19/26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DB02F2-39D2-BB47-A9E5-161B74A5D049}" type="slidenum">
              <a:rPr lang="en-US" smtClean="0"/>
              <a:t>‹#›</a:t>
            </a:fld>
            <a:endParaRPr lang="en-US"/>
          </a:p>
        </p:txBody>
      </p:sp>
    </p:spTree>
    <p:extLst>
      <p:ext uri="{BB962C8B-B14F-4D97-AF65-F5344CB8AC3E}">
        <p14:creationId xmlns:p14="http://schemas.microsoft.com/office/powerpoint/2010/main" val="1670717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tutorial, we look at the CDC’s 2023 linked birth/death infant data so that we can attempt to perform cluster analysis on preterm/premature births using a combination of different ML methods, e.g., K-Means, Gaussian Mixture Models. We also do survival analysis to see how the different groups of preterm babies survive over the course of their first year.</a:t>
            </a:r>
          </a:p>
        </p:txBody>
      </p:sp>
      <p:sp>
        <p:nvSpPr>
          <p:cNvPr id="4" name="Slide Number Placeholder 3"/>
          <p:cNvSpPr>
            <a:spLocks noGrp="1"/>
          </p:cNvSpPr>
          <p:nvPr>
            <p:ph type="sldNum" sz="quarter" idx="5"/>
          </p:nvPr>
        </p:nvSpPr>
        <p:spPr/>
        <p:txBody>
          <a:bodyPr/>
          <a:lstStyle/>
          <a:p>
            <a:fld id="{86DB02F2-39D2-BB47-A9E5-161B74A5D049}" type="slidenum">
              <a:rPr lang="en-US" smtClean="0"/>
              <a:t>1</a:t>
            </a:fld>
            <a:endParaRPr lang="en-US"/>
          </a:p>
        </p:txBody>
      </p:sp>
    </p:spTree>
    <p:extLst>
      <p:ext uri="{BB962C8B-B14F-4D97-AF65-F5344CB8AC3E}">
        <p14:creationId xmlns:p14="http://schemas.microsoft.com/office/powerpoint/2010/main" val="26859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worth mentioning that although any birth before 37 weeks counts as preterm, how early the baby is born is extremely important to know, both to understand the potential causes and to predict future outcomes. A baby born at 36 weeks will be assessed very differently vs one born at say 20-25 weeks. Indeed, a baby born at &lt; 22 weeks is likely not to survive. On the next slide we will see how common preterm births are.</a:t>
            </a:r>
          </a:p>
          <a:p>
            <a:endParaRPr lang="en-US" dirty="0"/>
          </a:p>
          <a:p>
            <a:r>
              <a:rPr lang="en-US" dirty="0"/>
              <a:t>Since we want to find out what clusters there are in the data for preterm births and look at how the babies fare in their first year, we can use methods like K-means clustering to find structures in the data that we then investigate.</a:t>
            </a:r>
          </a:p>
        </p:txBody>
      </p:sp>
      <p:sp>
        <p:nvSpPr>
          <p:cNvPr id="4" name="Slide Number Placeholder 3"/>
          <p:cNvSpPr>
            <a:spLocks noGrp="1"/>
          </p:cNvSpPr>
          <p:nvPr>
            <p:ph type="sldNum" sz="quarter" idx="5"/>
          </p:nvPr>
        </p:nvSpPr>
        <p:spPr/>
        <p:txBody>
          <a:bodyPr/>
          <a:lstStyle/>
          <a:p>
            <a:fld id="{86DB02F2-39D2-BB47-A9E5-161B74A5D049}" type="slidenum">
              <a:rPr lang="en-US" smtClean="0"/>
              <a:t>2</a:t>
            </a:fld>
            <a:endParaRPr lang="en-US"/>
          </a:p>
        </p:txBody>
      </p:sp>
    </p:spTree>
    <p:extLst>
      <p:ext uri="{BB962C8B-B14F-4D97-AF65-F5344CB8AC3E}">
        <p14:creationId xmlns:p14="http://schemas.microsoft.com/office/powerpoint/2010/main" val="2839302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preterm births happen &gt;34 weeks, but a sizable amount happen before that (on an absolute basis for sure). On the next slide we look at the distribution of birth weights.</a:t>
            </a:r>
          </a:p>
        </p:txBody>
      </p:sp>
      <p:sp>
        <p:nvSpPr>
          <p:cNvPr id="4" name="Slide Number Placeholder 3"/>
          <p:cNvSpPr>
            <a:spLocks noGrp="1"/>
          </p:cNvSpPr>
          <p:nvPr>
            <p:ph type="sldNum" sz="quarter" idx="5"/>
          </p:nvPr>
        </p:nvSpPr>
        <p:spPr/>
        <p:txBody>
          <a:bodyPr/>
          <a:lstStyle/>
          <a:p>
            <a:fld id="{86DB02F2-39D2-BB47-A9E5-161B74A5D049}" type="slidenum">
              <a:rPr lang="en-US" smtClean="0"/>
              <a:t>3</a:t>
            </a:fld>
            <a:endParaRPr lang="en-US"/>
          </a:p>
        </p:txBody>
      </p:sp>
    </p:spTree>
    <p:extLst>
      <p:ext uri="{BB962C8B-B14F-4D97-AF65-F5344CB8AC3E}">
        <p14:creationId xmlns:p14="http://schemas.microsoft.com/office/powerpoint/2010/main" val="507748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123A4-023B-2261-0923-FA319CA0B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E334C-2BBC-DFBB-BE22-89D1BDCCD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EBA156-2AEE-1085-E670-E1BC98A387D8}"/>
              </a:ext>
            </a:extLst>
          </p:cNvPr>
          <p:cNvSpPr>
            <a:spLocks noGrp="1"/>
          </p:cNvSpPr>
          <p:nvPr>
            <p:ph type="body" idx="1"/>
          </p:nvPr>
        </p:nvSpPr>
        <p:spPr/>
        <p:txBody>
          <a:bodyPr/>
          <a:lstStyle/>
          <a:p>
            <a:r>
              <a:rPr lang="en-US" dirty="0"/>
              <a:t>This chart shows the distribution of birth weights. Babies &gt; 5000 grams were excluded (and extremely rare in the data in any event). But we can see that the taper for larger babies is more pronounced vs the taper for smaller babies on the left. Premature births contribute to the skew that we are seeing in the measurements.</a:t>
            </a:r>
          </a:p>
        </p:txBody>
      </p:sp>
      <p:sp>
        <p:nvSpPr>
          <p:cNvPr id="4" name="Slide Number Placeholder 3">
            <a:extLst>
              <a:ext uri="{FF2B5EF4-FFF2-40B4-BE49-F238E27FC236}">
                <a16:creationId xmlns:a16="http://schemas.microsoft.com/office/drawing/2014/main" id="{0B1FDB0D-546D-D8EA-38E6-E0FBB448CD63}"/>
              </a:ext>
            </a:extLst>
          </p:cNvPr>
          <p:cNvSpPr>
            <a:spLocks noGrp="1"/>
          </p:cNvSpPr>
          <p:nvPr>
            <p:ph type="sldNum" sz="quarter" idx="5"/>
          </p:nvPr>
        </p:nvSpPr>
        <p:spPr/>
        <p:txBody>
          <a:bodyPr/>
          <a:lstStyle/>
          <a:p>
            <a:fld id="{86DB02F2-39D2-BB47-A9E5-161B74A5D049}" type="slidenum">
              <a:rPr lang="en-US" smtClean="0"/>
              <a:t>4</a:t>
            </a:fld>
            <a:endParaRPr lang="en-US"/>
          </a:p>
        </p:txBody>
      </p:sp>
    </p:spTree>
    <p:extLst>
      <p:ext uri="{BB962C8B-B14F-4D97-AF65-F5344CB8AC3E}">
        <p14:creationId xmlns:p14="http://schemas.microsoft.com/office/powerpoint/2010/main" val="550746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CDC data, one birth corresponds to one row in the data (births with multiple babies present would be spread out over that many rows). For any baby that died before the age of 1, that row is linked to the death records, which we use in our analysis to study survival curves.</a:t>
            </a:r>
          </a:p>
          <a:p>
            <a:br>
              <a:rPr lang="en-US" dirty="0"/>
            </a:br>
            <a:r>
              <a:rPr lang="en-US" dirty="0"/>
              <a:t>Note that we filtered out some rows in the data e.g., in particular we only used US residents as this is a standard practice for this kind of analysis.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code is available in the GitHub repository, but given upload limitation for GitHub (both in the web GUI and through terminal commands), users of this repo will have to also separately download the ZIP files from the above source and put them in the directory. The downloaded ZIP file 2024PE2023CO.zip must be unzipped in the same directory as </a:t>
            </a:r>
            <a:r>
              <a:rPr lang="en-US" dirty="0" err="1"/>
              <a:t>SLT_Project.ipynb</a:t>
            </a:r>
            <a:r>
              <a:rPr lang="en-US" dirty="0"/>
              <a:t> notebook and the resulting folder file name (2024PE2023CO) should be left as is.</a:t>
            </a:r>
          </a:p>
        </p:txBody>
      </p:sp>
      <p:sp>
        <p:nvSpPr>
          <p:cNvPr id="4" name="Slide Number Placeholder 3"/>
          <p:cNvSpPr>
            <a:spLocks noGrp="1"/>
          </p:cNvSpPr>
          <p:nvPr>
            <p:ph type="sldNum" sz="quarter" idx="5"/>
          </p:nvPr>
        </p:nvSpPr>
        <p:spPr/>
        <p:txBody>
          <a:bodyPr/>
          <a:lstStyle/>
          <a:p>
            <a:fld id="{86DB02F2-39D2-BB47-A9E5-161B74A5D049}" type="slidenum">
              <a:rPr lang="en-US" smtClean="0"/>
              <a:t>5</a:t>
            </a:fld>
            <a:endParaRPr lang="en-US"/>
          </a:p>
        </p:txBody>
      </p:sp>
    </p:spTree>
    <p:extLst>
      <p:ext uri="{BB962C8B-B14F-4D97-AF65-F5344CB8AC3E}">
        <p14:creationId xmlns:p14="http://schemas.microsoft.com/office/powerpoint/2010/main" val="2354076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user guide to set up the FIELDS dictionary, which contain the different features to consider for cluster analysis, e.g., diabetes, history of preterm births, certain infections. Later on we will filter some of these out further. But each item in the FIELDS dictionary contains a feature, and a range containing which spots in the row contain the value for that feature. The dictionary highlights what those features mean. We read in chunks of the data 500K lines at a time for machines with less powerful hardware/RAM capacity.</a:t>
            </a:r>
          </a:p>
        </p:txBody>
      </p:sp>
      <p:sp>
        <p:nvSpPr>
          <p:cNvPr id="4" name="Slide Number Placeholder 3"/>
          <p:cNvSpPr>
            <a:spLocks noGrp="1"/>
          </p:cNvSpPr>
          <p:nvPr>
            <p:ph type="sldNum" sz="quarter" idx="5"/>
          </p:nvPr>
        </p:nvSpPr>
        <p:spPr/>
        <p:txBody>
          <a:bodyPr/>
          <a:lstStyle/>
          <a:p>
            <a:fld id="{86DB02F2-39D2-BB47-A9E5-161B74A5D049}" type="slidenum">
              <a:rPr lang="en-US" smtClean="0"/>
              <a:t>6</a:t>
            </a:fld>
            <a:endParaRPr lang="en-US"/>
          </a:p>
        </p:txBody>
      </p:sp>
    </p:spTree>
    <p:extLst>
      <p:ext uri="{BB962C8B-B14F-4D97-AF65-F5344CB8AC3E}">
        <p14:creationId xmlns:p14="http://schemas.microsoft.com/office/powerpoint/2010/main" val="3157931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Snippets of FIELDS dictionary. Note that we exclude rows where “</a:t>
            </a:r>
            <a:r>
              <a:rPr lang="en-US" dirty="0" err="1"/>
              <a:t>restatus</a:t>
            </a:r>
            <a:r>
              <a:rPr lang="en-US" dirty="0"/>
              <a:t>” == 4. </a:t>
            </a:r>
          </a:p>
          <a:p>
            <a:endParaRPr lang="en-US" dirty="0"/>
          </a:p>
          <a:p>
            <a:r>
              <a:rPr lang="en-US" dirty="0"/>
              <a:t>The bottom two lines of code show how we ingest the data as text first using Pandas </a:t>
            </a:r>
            <a:r>
              <a:rPr lang="en-US" dirty="0" err="1"/>
              <a:t>read_fwf</a:t>
            </a:r>
            <a:r>
              <a:rPr lang="en-US" dirty="0"/>
              <a:t> 500K rows at a time. Note that the guide starts indexing from 1 while python indexes starting from 0, so a minus 1 offset is required. </a:t>
            </a:r>
          </a:p>
          <a:p>
            <a:endParaRPr lang="en-US" dirty="0"/>
          </a:p>
          <a:p>
            <a:r>
              <a:rPr lang="en-US" dirty="0"/>
              <a:t>The final image is that of the field codes and values as listed in the user guide PDF</a:t>
            </a:r>
          </a:p>
        </p:txBody>
      </p:sp>
      <p:sp>
        <p:nvSpPr>
          <p:cNvPr id="4" name="Slide Number Placeholder 3"/>
          <p:cNvSpPr>
            <a:spLocks noGrp="1"/>
          </p:cNvSpPr>
          <p:nvPr>
            <p:ph type="sldNum" sz="quarter" idx="5"/>
          </p:nvPr>
        </p:nvSpPr>
        <p:spPr/>
        <p:txBody>
          <a:bodyPr/>
          <a:lstStyle/>
          <a:p>
            <a:fld id="{86DB02F2-39D2-BB47-A9E5-161B74A5D049}" type="slidenum">
              <a:rPr lang="en-US" smtClean="0"/>
              <a:t>7</a:t>
            </a:fld>
            <a:endParaRPr lang="en-US"/>
          </a:p>
        </p:txBody>
      </p:sp>
    </p:spTree>
    <p:extLst>
      <p:ext uri="{BB962C8B-B14F-4D97-AF65-F5344CB8AC3E}">
        <p14:creationId xmlns:p14="http://schemas.microsoft.com/office/powerpoint/2010/main" val="3125930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user guide, there are different conventions for missing or unknown data. So in Birth Weight feature, a value of “9999” means unknown. After we map the “9999” to a numerical value, we tag the cell as a </a:t>
            </a:r>
            <a:r>
              <a:rPr lang="en-US" dirty="0" err="1"/>
              <a:t>NaN</a:t>
            </a:r>
            <a:r>
              <a:rPr lang="en-US" dirty="0"/>
              <a:t>. This is for the continuous case, if it is a Y/N field with an unknown value U, we map that to </a:t>
            </a:r>
            <a:r>
              <a:rPr lang="en-US" dirty="0" err="1"/>
              <a:t>NaN</a:t>
            </a:r>
            <a:r>
              <a:rPr lang="en-US" dirty="0"/>
              <a:t> in the row. For the features that we care about for clustering, features with </a:t>
            </a:r>
            <a:r>
              <a:rPr lang="en-US" dirty="0" err="1"/>
              <a:t>NaN</a:t>
            </a:r>
            <a:r>
              <a:rPr lang="en-US" dirty="0"/>
              <a:t> values leads to the rows getting filtered out.</a:t>
            </a:r>
          </a:p>
        </p:txBody>
      </p:sp>
      <p:sp>
        <p:nvSpPr>
          <p:cNvPr id="4" name="Slide Number Placeholder 3"/>
          <p:cNvSpPr>
            <a:spLocks noGrp="1"/>
          </p:cNvSpPr>
          <p:nvPr>
            <p:ph type="sldNum" sz="quarter" idx="5"/>
          </p:nvPr>
        </p:nvSpPr>
        <p:spPr/>
        <p:txBody>
          <a:bodyPr/>
          <a:lstStyle/>
          <a:p>
            <a:fld id="{86DB02F2-39D2-BB47-A9E5-161B74A5D049}" type="slidenum">
              <a:rPr lang="en-US" smtClean="0"/>
              <a:t>8</a:t>
            </a:fld>
            <a:endParaRPr lang="en-US"/>
          </a:p>
        </p:txBody>
      </p:sp>
    </p:spTree>
    <p:extLst>
      <p:ext uri="{BB962C8B-B14F-4D97-AF65-F5344CB8AC3E}">
        <p14:creationId xmlns:p14="http://schemas.microsoft.com/office/powerpoint/2010/main" val="667631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see that we successfully extracted all the almost 12K deaths data from the certificates with the birth data in the </a:t>
            </a:r>
            <a:r>
              <a:rPr lang="en-US" dirty="0" err="1"/>
              <a:t>dataframe</a:t>
            </a:r>
            <a:r>
              <a:rPr lang="en-US" dirty="0"/>
              <a:t> (even though not all of these rows were used in our analysis). The survival analysis will rely on this and two additional data points for each baby: the number of days that the baby was followed for and if the baby died.</a:t>
            </a:r>
          </a:p>
        </p:txBody>
      </p:sp>
      <p:sp>
        <p:nvSpPr>
          <p:cNvPr id="4" name="Slide Number Placeholder 3"/>
          <p:cNvSpPr>
            <a:spLocks noGrp="1"/>
          </p:cNvSpPr>
          <p:nvPr>
            <p:ph type="sldNum" sz="quarter" idx="5"/>
          </p:nvPr>
        </p:nvSpPr>
        <p:spPr/>
        <p:txBody>
          <a:bodyPr/>
          <a:lstStyle/>
          <a:p>
            <a:fld id="{86DB02F2-39D2-BB47-A9E5-161B74A5D049}" type="slidenum">
              <a:rPr lang="en-US" smtClean="0"/>
              <a:t>9</a:t>
            </a:fld>
            <a:endParaRPr lang="en-US"/>
          </a:p>
        </p:txBody>
      </p:sp>
    </p:spTree>
    <p:extLst>
      <p:ext uri="{BB962C8B-B14F-4D97-AF65-F5344CB8AC3E}">
        <p14:creationId xmlns:p14="http://schemas.microsoft.com/office/powerpoint/2010/main" val="1761029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an internal check, we make sure that our death rates per 1000 babies matches closely what the data says (since some records were dropped by design some deviation is expected). We see some patterns already which should be obvious, e.g., an earlier birth leads to more deaths in the first year, especially for children born &lt; 28 weeks. </a:t>
            </a:r>
          </a:p>
        </p:txBody>
      </p:sp>
      <p:sp>
        <p:nvSpPr>
          <p:cNvPr id="4" name="Slide Number Placeholder 3"/>
          <p:cNvSpPr>
            <a:spLocks noGrp="1"/>
          </p:cNvSpPr>
          <p:nvPr>
            <p:ph type="sldNum" sz="quarter" idx="5"/>
          </p:nvPr>
        </p:nvSpPr>
        <p:spPr/>
        <p:txBody>
          <a:bodyPr/>
          <a:lstStyle/>
          <a:p>
            <a:fld id="{86DB02F2-39D2-BB47-A9E5-161B74A5D049}" type="slidenum">
              <a:rPr lang="en-US" smtClean="0"/>
              <a:t>10</a:t>
            </a:fld>
            <a:endParaRPr lang="en-US"/>
          </a:p>
        </p:txBody>
      </p:sp>
    </p:spTree>
    <p:extLst>
      <p:ext uri="{BB962C8B-B14F-4D97-AF65-F5344CB8AC3E}">
        <p14:creationId xmlns:p14="http://schemas.microsoft.com/office/powerpoint/2010/main" val="3762311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data confirms that roughly 10% - 11% of births are preterm. We removed the rows that are &lt; 22 weeks old as these are very likely to have resulted in death but not be associated with any of the features in our data, so we don’t include them. The 11 </a:t>
            </a:r>
            <a:r>
              <a:rPr lang="en-US" dirty="0" err="1"/>
              <a:t>lb</a:t>
            </a:r>
            <a:r>
              <a:rPr lang="en-US" dirty="0"/>
              <a:t> threshold is because we want to exclude datapoints that are generally not observed in these populations. Combined these rules removed &lt; 2700 datapoints, most of which were associated with the &lt;22 week gestational periods for the preterm births that we wanted to exclude.</a:t>
            </a:r>
          </a:p>
        </p:txBody>
      </p:sp>
      <p:sp>
        <p:nvSpPr>
          <p:cNvPr id="4" name="Slide Number Placeholder 3"/>
          <p:cNvSpPr>
            <a:spLocks noGrp="1"/>
          </p:cNvSpPr>
          <p:nvPr>
            <p:ph type="sldNum" sz="quarter" idx="5"/>
          </p:nvPr>
        </p:nvSpPr>
        <p:spPr/>
        <p:txBody>
          <a:bodyPr/>
          <a:lstStyle/>
          <a:p>
            <a:fld id="{86DB02F2-39D2-BB47-A9E5-161B74A5D049}" type="slidenum">
              <a:rPr lang="en-US" smtClean="0"/>
              <a:t>11</a:t>
            </a:fld>
            <a:endParaRPr lang="en-US"/>
          </a:p>
        </p:txBody>
      </p:sp>
    </p:spTree>
    <p:extLst>
      <p:ext uri="{BB962C8B-B14F-4D97-AF65-F5344CB8AC3E}">
        <p14:creationId xmlns:p14="http://schemas.microsoft.com/office/powerpoint/2010/main" val="3753762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worth noting that for infections, there were more than one type, but they were not numerous and likely would have resulted in point clusters in our analysis. There’s an argument to be made for grouping all the infections together but that is too broad a group. Chorioamnionitis was recognized as an infection that was a specific risk factor so it gets its own count.</a:t>
            </a:r>
          </a:p>
          <a:p>
            <a:endParaRPr lang="en-US" dirty="0"/>
          </a:p>
          <a:p>
            <a:r>
              <a:rPr lang="en-US" dirty="0"/>
              <a:t>For K-Means, which measures distance, we take a standard approach and standardize the features so that they are mean 0 and variance 1, as leaving them as is would leave Y/N, </a:t>
            </a:r>
            <a:r>
              <a:rPr lang="en-US" dirty="0" err="1"/>
              <a:t>e.g</a:t>
            </a:r>
            <a:r>
              <a:rPr lang="en-US" dirty="0"/>
              <a:t>, 0 or 1 features highly sensitive to features like birth weight which are much larger in magnitude (since they are measured in grams), e.g., birth weights would dominate the Y/N features.</a:t>
            </a:r>
          </a:p>
        </p:txBody>
      </p:sp>
      <p:sp>
        <p:nvSpPr>
          <p:cNvPr id="4" name="Slide Number Placeholder 3"/>
          <p:cNvSpPr>
            <a:spLocks noGrp="1"/>
          </p:cNvSpPr>
          <p:nvPr>
            <p:ph type="sldNum" sz="quarter" idx="5"/>
          </p:nvPr>
        </p:nvSpPr>
        <p:spPr/>
        <p:txBody>
          <a:bodyPr/>
          <a:lstStyle/>
          <a:p>
            <a:fld id="{86DB02F2-39D2-BB47-A9E5-161B74A5D049}" type="slidenum">
              <a:rPr lang="en-US" smtClean="0"/>
              <a:t>12</a:t>
            </a:fld>
            <a:endParaRPr lang="en-US"/>
          </a:p>
        </p:txBody>
      </p:sp>
    </p:spTree>
    <p:extLst>
      <p:ext uri="{BB962C8B-B14F-4D97-AF65-F5344CB8AC3E}">
        <p14:creationId xmlns:p14="http://schemas.microsoft.com/office/powerpoint/2010/main" val="25469309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that for K-Means the number of clusters has to be known a priori for the algorithm to run. As a practical matter we could use a higher number of clusters at the price of additional computational power. One choice of K need not be correct over the other if you have a view on what the number of clusters </a:t>
            </a:r>
            <a:r>
              <a:rPr lang="en-US" i="1" dirty="0"/>
              <a:t>should </a:t>
            </a:r>
            <a:r>
              <a:rPr lang="en-US" i="0" dirty="0"/>
              <a:t>be.</a:t>
            </a:r>
            <a:endParaRPr lang="en-US" dirty="0"/>
          </a:p>
          <a:p>
            <a:endParaRPr lang="en-US" dirty="0"/>
          </a:p>
          <a:p>
            <a:r>
              <a:rPr lang="en-US" dirty="0"/>
              <a:t>Inertia measures sum of the total squared distance from each birth to its putative cluster center. Adding clusters lowers this value, but we look for the point of diminishing return, e.g., the inflection in the elbow curve that this method often produces.</a:t>
            </a:r>
          </a:p>
          <a:p>
            <a:endParaRPr lang="en-US" dirty="0"/>
          </a:p>
          <a:p>
            <a:r>
              <a:rPr lang="en-US" dirty="0"/>
              <a:t>The Silhouette score tracks how well clusters are separated. It’s not practical to run it on all ~367K records, so we try it on five random samples of 10K births.  We are to choose the highest Silhouette score that we see</a:t>
            </a:r>
          </a:p>
        </p:txBody>
      </p:sp>
      <p:sp>
        <p:nvSpPr>
          <p:cNvPr id="4" name="Slide Number Placeholder 3"/>
          <p:cNvSpPr>
            <a:spLocks noGrp="1"/>
          </p:cNvSpPr>
          <p:nvPr>
            <p:ph type="sldNum" sz="quarter" idx="5"/>
          </p:nvPr>
        </p:nvSpPr>
        <p:spPr/>
        <p:txBody>
          <a:bodyPr/>
          <a:lstStyle/>
          <a:p>
            <a:fld id="{86DB02F2-39D2-BB47-A9E5-161B74A5D049}" type="slidenum">
              <a:rPr lang="en-US" smtClean="0"/>
              <a:t>13</a:t>
            </a:fld>
            <a:endParaRPr lang="en-US"/>
          </a:p>
        </p:txBody>
      </p:sp>
    </p:spTree>
    <p:extLst>
      <p:ext uri="{BB962C8B-B14F-4D97-AF65-F5344CB8AC3E}">
        <p14:creationId xmlns:p14="http://schemas.microsoft.com/office/powerpoint/2010/main" val="3676053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 = 7 doesn’t present as an obviously strong elbow shape, but we see that going from K = 7 to K = 8 yields a less steep decline than going from K = 6 to K = 7. K = 7 is the closest we have to the elbow inflection that we are looking for.</a:t>
            </a:r>
          </a:p>
          <a:p>
            <a:endParaRPr lang="en-US" dirty="0"/>
          </a:p>
          <a:p>
            <a:r>
              <a:rPr lang="en-US" dirty="0"/>
              <a:t>Likewise, the Silhouette score for K = 7 is highest with a value of 0.276. It’s worth noting that this score is fairly low and yields clusters that overlap, but this phenomenon is not uncommon in clinical data. Since they agree we choose K = 7.</a:t>
            </a:r>
          </a:p>
          <a:p>
            <a:endParaRPr lang="en-US" dirty="0"/>
          </a:p>
          <a:p>
            <a:r>
              <a:rPr lang="en-US" dirty="0"/>
              <a:t>For future analyses we could attempt to group with a higher number of clusters.</a:t>
            </a:r>
          </a:p>
        </p:txBody>
      </p:sp>
      <p:sp>
        <p:nvSpPr>
          <p:cNvPr id="4" name="Slide Number Placeholder 3"/>
          <p:cNvSpPr>
            <a:spLocks noGrp="1"/>
          </p:cNvSpPr>
          <p:nvPr>
            <p:ph type="sldNum" sz="quarter" idx="5"/>
          </p:nvPr>
        </p:nvSpPr>
        <p:spPr/>
        <p:txBody>
          <a:bodyPr/>
          <a:lstStyle/>
          <a:p>
            <a:fld id="{86DB02F2-39D2-BB47-A9E5-161B74A5D049}" type="slidenum">
              <a:rPr lang="en-US" smtClean="0"/>
              <a:t>14</a:t>
            </a:fld>
            <a:endParaRPr lang="en-US"/>
          </a:p>
        </p:txBody>
      </p:sp>
    </p:spTree>
    <p:extLst>
      <p:ext uri="{BB962C8B-B14F-4D97-AF65-F5344CB8AC3E}">
        <p14:creationId xmlns:p14="http://schemas.microsoft.com/office/powerpoint/2010/main" val="971369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the number of clusters K, and upon analysis K-Means chose the groups (listed above). Rare conditions often end up in their own clusters, but those that show up in many clusters (e.g., gestational hypertension) can overlap across clusters.</a:t>
            </a:r>
          </a:p>
        </p:txBody>
      </p:sp>
      <p:sp>
        <p:nvSpPr>
          <p:cNvPr id="4" name="Slide Number Placeholder 3"/>
          <p:cNvSpPr>
            <a:spLocks noGrp="1"/>
          </p:cNvSpPr>
          <p:nvPr>
            <p:ph type="sldNum" sz="quarter" idx="5"/>
          </p:nvPr>
        </p:nvSpPr>
        <p:spPr/>
        <p:txBody>
          <a:bodyPr/>
          <a:lstStyle/>
          <a:p>
            <a:fld id="{86DB02F2-39D2-BB47-A9E5-161B74A5D049}" type="slidenum">
              <a:rPr lang="en-US" smtClean="0"/>
              <a:t>15</a:t>
            </a:fld>
            <a:endParaRPr lang="en-US"/>
          </a:p>
        </p:txBody>
      </p:sp>
    </p:spTree>
    <p:extLst>
      <p:ext uri="{BB962C8B-B14F-4D97-AF65-F5344CB8AC3E}">
        <p14:creationId xmlns:p14="http://schemas.microsoft.com/office/powerpoint/2010/main" val="9703697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chosen clusters are a function of the features chosen,  the data, the value of K and how K-Means is measuring distance. Five clusters line up with the recognized risk factors of preterm births. The others are very early or very late preterm births.</a:t>
            </a:r>
          </a:p>
        </p:txBody>
      </p:sp>
      <p:sp>
        <p:nvSpPr>
          <p:cNvPr id="4" name="Slide Number Placeholder 3"/>
          <p:cNvSpPr>
            <a:spLocks noGrp="1"/>
          </p:cNvSpPr>
          <p:nvPr>
            <p:ph type="sldNum" sz="quarter" idx="5"/>
          </p:nvPr>
        </p:nvSpPr>
        <p:spPr/>
        <p:txBody>
          <a:bodyPr/>
          <a:lstStyle/>
          <a:p>
            <a:fld id="{86DB02F2-39D2-BB47-A9E5-161B74A5D049}" type="slidenum">
              <a:rPr lang="en-US" smtClean="0"/>
              <a:t>16</a:t>
            </a:fld>
            <a:endParaRPr lang="en-US"/>
          </a:p>
        </p:txBody>
      </p:sp>
    </p:spTree>
    <p:extLst>
      <p:ext uri="{BB962C8B-B14F-4D97-AF65-F5344CB8AC3E}">
        <p14:creationId xmlns:p14="http://schemas.microsoft.com/office/powerpoint/2010/main" val="7360873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Overall PCA can be helpful but doesn’t necessarily capture the whole picture of what is going on in the data as certain features and their clusters can get lost in the projection</a:t>
            </a:r>
          </a:p>
          <a:p>
            <a:endParaRPr lang="en-US" dirty="0"/>
          </a:p>
        </p:txBody>
      </p:sp>
      <p:sp>
        <p:nvSpPr>
          <p:cNvPr id="4" name="Slide Number Placeholder 3"/>
          <p:cNvSpPr>
            <a:spLocks noGrp="1"/>
          </p:cNvSpPr>
          <p:nvPr>
            <p:ph type="sldNum" sz="quarter" idx="5"/>
          </p:nvPr>
        </p:nvSpPr>
        <p:spPr/>
        <p:txBody>
          <a:bodyPr/>
          <a:lstStyle/>
          <a:p>
            <a:fld id="{86DB02F2-39D2-BB47-A9E5-161B74A5D049}" type="slidenum">
              <a:rPr lang="en-US" smtClean="0"/>
              <a:t>17</a:t>
            </a:fld>
            <a:endParaRPr lang="en-US"/>
          </a:p>
        </p:txBody>
      </p:sp>
    </p:spTree>
    <p:extLst>
      <p:ext uri="{BB962C8B-B14F-4D97-AF65-F5344CB8AC3E}">
        <p14:creationId xmlns:p14="http://schemas.microsoft.com/office/powerpoint/2010/main" val="1537312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the strong grouping associated with whether a baby arrives late preterm or very preterm. Other categories don’t register variation as much</a:t>
            </a:r>
          </a:p>
        </p:txBody>
      </p:sp>
      <p:sp>
        <p:nvSpPr>
          <p:cNvPr id="4" name="Slide Number Placeholder 3"/>
          <p:cNvSpPr>
            <a:spLocks noGrp="1"/>
          </p:cNvSpPr>
          <p:nvPr>
            <p:ph type="sldNum" sz="quarter" idx="5"/>
          </p:nvPr>
        </p:nvSpPr>
        <p:spPr/>
        <p:txBody>
          <a:bodyPr/>
          <a:lstStyle/>
          <a:p>
            <a:fld id="{86DB02F2-39D2-BB47-A9E5-161B74A5D049}" type="slidenum">
              <a:rPr lang="en-US" smtClean="0"/>
              <a:t>18</a:t>
            </a:fld>
            <a:endParaRPr lang="en-US"/>
          </a:p>
        </p:txBody>
      </p:sp>
    </p:spTree>
    <p:extLst>
      <p:ext uri="{BB962C8B-B14F-4D97-AF65-F5344CB8AC3E}">
        <p14:creationId xmlns:p14="http://schemas.microsoft.com/office/powerpoint/2010/main" val="2737703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 tracks how well our methods (K-Means and GMM in this case) group births into the same bucket.</a:t>
            </a:r>
          </a:p>
        </p:txBody>
      </p:sp>
      <p:sp>
        <p:nvSpPr>
          <p:cNvPr id="4" name="Slide Number Placeholder 3"/>
          <p:cNvSpPr>
            <a:spLocks noGrp="1"/>
          </p:cNvSpPr>
          <p:nvPr>
            <p:ph type="sldNum" sz="quarter" idx="5"/>
          </p:nvPr>
        </p:nvSpPr>
        <p:spPr/>
        <p:txBody>
          <a:bodyPr/>
          <a:lstStyle/>
          <a:p>
            <a:fld id="{86DB02F2-39D2-BB47-A9E5-161B74A5D049}" type="slidenum">
              <a:rPr lang="en-US" smtClean="0"/>
              <a:t>19</a:t>
            </a:fld>
            <a:endParaRPr lang="en-US"/>
          </a:p>
        </p:txBody>
      </p:sp>
    </p:spTree>
    <p:extLst>
      <p:ext uri="{BB962C8B-B14F-4D97-AF65-F5344CB8AC3E}">
        <p14:creationId xmlns:p14="http://schemas.microsoft.com/office/powerpoint/2010/main" val="29362204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was strong agreement in the Eclampsia and infection-associated column, but the 0.18 score suggests that the two methods largely disagree in their results. For these two categories we have some more confidence that we should use them. We also looked at focusing on features that could be modeled continuously and where the ARI would potentially show more agreement with K-Means.</a:t>
            </a:r>
          </a:p>
          <a:p>
            <a:endParaRPr lang="en-US" dirty="0"/>
          </a:p>
          <a:p>
            <a:r>
              <a:rPr lang="en-US" dirty="0"/>
              <a:t>Note that the median assignment confidence of 1.0 (100%) is not a realistic value since it carries way too much certainty.</a:t>
            </a:r>
          </a:p>
        </p:txBody>
      </p:sp>
      <p:sp>
        <p:nvSpPr>
          <p:cNvPr id="4" name="Slide Number Placeholder 3"/>
          <p:cNvSpPr>
            <a:spLocks noGrp="1"/>
          </p:cNvSpPr>
          <p:nvPr>
            <p:ph type="sldNum" sz="quarter" idx="5"/>
          </p:nvPr>
        </p:nvSpPr>
        <p:spPr/>
        <p:txBody>
          <a:bodyPr/>
          <a:lstStyle/>
          <a:p>
            <a:fld id="{86DB02F2-39D2-BB47-A9E5-161B74A5D049}" type="slidenum">
              <a:rPr lang="en-US" smtClean="0"/>
              <a:t>20</a:t>
            </a:fld>
            <a:endParaRPr lang="en-US"/>
          </a:p>
        </p:txBody>
      </p:sp>
    </p:spTree>
    <p:extLst>
      <p:ext uri="{BB962C8B-B14F-4D97-AF65-F5344CB8AC3E}">
        <p14:creationId xmlns:p14="http://schemas.microsoft.com/office/powerpoint/2010/main" val="36438492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setting Kaplan-Meier curves try to estimate the share of babies still alive at a given point during the first year (the data only tracks for the first year, and if there is no death certificate in the linked data then the baby survived).</a:t>
            </a:r>
          </a:p>
        </p:txBody>
      </p:sp>
      <p:sp>
        <p:nvSpPr>
          <p:cNvPr id="4" name="Slide Number Placeholder 3"/>
          <p:cNvSpPr>
            <a:spLocks noGrp="1"/>
          </p:cNvSpPr>
          <p:nvPr>
            <p:ph type="sldNum" sz="quarter" idx="5"/>
          </p:nvPr>
        </p:nvSpPr>
        <p:spPr/>
        <p:txBody>
          <a:bodyPr/>
          <a:lstStyle/>
          <a:p>
            <a:fld id="{86DB02F2-39D2-BB47-A9E5-161B74A5D049}" type="slidenum">
              <a:rPr lang="en-US" smtClean="0"/>
              <a:t>21</a:t>
            </a:fld>
            <a:endParaRPr lang="en-US"/>
          </a:p>
        </p:txBody>
      </p:sp>
    </p:spTree>
    <p:extLst>
      <p:ext uri="{BB962C8B-B14F-4D97-AF65-F5344CB8AC3E}">
        <p14:creationId xmlns:p14="http://schemas.microsoft.com/office/powerpoint/2010/main" val="38617886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babies with the highest risk of death are the very preterm babies and those that are infection associated. Still, even the very preterm babies are estimated to survive 89% of the time to one year. The shaded bands around the curves represent 95% confidence intervals. Typically larger clusters have more narrow bands and smaller clusters have larger bands. This is because the less data we have the more of a spread that is required to be confident in the estimate.</a:t>
            </a:r>
          </a:p>
        </p:txBody>
      </p:sp>
      <p:sp>
        <p:nvSpPr>
          <p:cNvPr id="4" name="Slide Number Placeholder 3"/>
          <p:cNvSpPr>
            <a:spLocks noGrp="1"/>
          </p:cNvSpPr>
          <p:nvPr>
            <p:ph type="sldNum" sz="quarter" idx="5"/>
          </p:nvPr>
        </p:nvSpPr>
        <p:spPr/>
        <p:txBody>
          <a:bodyPr/>
          <a:lstStyle/>
          <a:p>
            <a:fld id="{86DB02F2-39D2-BB47-A9E5-161B74A5D049}" type="slidenum">
              <a:rPr lang="en-US" smtClean="0"/>
              <a:t>22</a:t>
            </a:fld>
            <a:endParaRPr lang="en-US"/>
          </a:p>
        </p:txBody>
      </p:sp>
    </p:spTree>
    <p:extLst>
      <p:ext uri="{BB962C8B-B14F-4D97-AF65-F5344CB8AC3E}">
        <p14:creationId xmlns:p14="http://schemas.microsoft.com/office/powerpoint/2010/main" val="39723402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what precisely caused premature death in the babies, first target a cluster (column header) and then look at the rows. We see that in the fertility treatment cluster, the largest share of deaths was caused by other newborn conditions (43%). For late preterm baby deaths, the main cause was birth defects. All of the columns add up to 100% to account for each groups causes of death. </a:t>
            </a:r>
          </a:p>
        </p:txBody>
      </p:sp>
      <p:sp>
        <p:nvSpPr>
          <p:cNvPr id="4" name="Slide Number Placeholder 3"/>
          <p:cNvSpPr>
            <a:spLocks noGrp="1"/>
          </p:cNvSpPr>
          <p:nvPr>
            <p:ph type="sldNum" sz="quarter" idx="5"/>
          </p:nvPr>
        </p:nvSpPr>
        <p:spPr/>
        <p:txBody>
          <a:bodyPr/>
          <a:lstStyle/>
          <a:p>
            <a:fld id="{86DB02F2-39D2-BB47-A9E5-161B74A5D049}" type="slidenum">
              <a:rPr lang="en-US" smtClean="0"/>
              <a:t>23</a:t>
            </a:fld>
            <a:endParaRPr lang="en-US"/>
          </a:p>
        </p:txBody>
      </p:sp>
    </p:spTree>
    <p:extLst>
      <p:ext uri="{BB962C8B-B14F-4D97-AF65-F5344CB8AC3E}">
        <p14:creationId xmlns:p14="http://schemas.microsoft.com/office/powerpoint/2010/main" val="1947255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34C1E-26B3-DB35-43F7-F7C3A14C1D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B9060F-8F39-712E-2D6D-C5E1275FF9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037215-921A-AFD9-7134-6E25A8129F4F}"/>
              </a:ext>
            </a:extLst>
          </p:cNvPr>
          <p:cNvSpPr>
            <a:spLocks noGrp="1"/>
          </p:cNvSpPr>
          <p:nvPr>
            <p:ph type="dt" sz="half" idx="10"/>
          </p:nvPr>
        </p:nvSpPr>
        <p:spPr/>
        <p:txBody>
          <a:bodyPr/>
          <a:lstStyle/>
          <a:p>
            <a:fld id="{F9F5A9D2-F36D-EA4E-A5DE-2D6A60CBEC7C}" type="datetimeFigureOut">
              <a:rPr lang="en-US" smtClean="0"/>
              <a:t>10/19/26</a:t>
            </a:fld>
            <a:endParaRPr lang="en-US"/>
          </a:p>
        </p:txBody>
      </p:sp>
      <p:sp>
        <p:nvSpPr>
          <p:cNvPr id="5" name="Footer Placeholder 4">
            <a:extLst>
              <a:ext uri="{FF2B5EF4-FFF2-40B4-BE49-F238E27FC236}">
                <a16:creationId xmlns:a16="http://schemas.microsoft.com/office/drawing/2014/main" id="{DEBAF1FD-3C1B-31CB-3227-879C0B586F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71257F-E260-0E10-07C9-18214C110BC9}"/>
              </a:ext>
            </a:extLst>
          </p:cNvPr>
          <p:cNvSpPr>
            <a:spLocks noGrp="1"/>
          </p:cNvSpPr>
          <p:nvPr>
            <p:ph type="sldNum" sz="quarter" idx="12"/>
          </p:nvPr>
        </p:nvSpPr>
        <p:spPr/>
        <p:txBody>
          <a:bodyPr/>
          <a:lstStyle/>
          <a:p>
            <a:fld id="{3517166C-6E1A-444E-9E34-A244E54DEAB3}" type="slidenum">
              <a:rPr lang="en-US" smtClean="0"/>
              <a:t>‹#›</a:t>
            </a:fld>
            <a:endParaRPr lang="en-US"/>
          </a:p>
        </p:txBody>
      </p:sp>
    </p:spTree>
    <p:extLst>
      <p:ext uri="{BB962C8B-B14F-4D97-AF65-F5344CB8AC3E}">
        <p14:creationId xmlns:p14="http://schemas.microsoft.com/office/powerpoint/2010/main" val="3944019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166E0-652D-3AA6-ED88-F22EA8D2A5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872D4B-2157-C223-5693-DFAFDECD7B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EE593A-0923-C742-310A-9D178824329D}"/>
              </a:ext>
            </a:extLst>
          </p:cNvPr>
          <p:cNvSpPr>
            <a:spLocks noGrp="1"/>
          </p:cNvSpPr>
          <p:nvPr>
            <p:ph type="dt" sz="half" idx="10"/>
          </p:nvPr>
        </p:nvSpPr>
        <p:spPr/>
        <p:txBody>
          <a:bodyPr/>
          <a:lstStyle/>
          <a:p>
            <a:fld id="{F9F5A9D2-F36D-EA4E-A5DE-2D6A60CBEC7C}" type="datetimeFigureOut">
              <a:rPr lang="en-US" smtClean="0"/>
              <a:t>10/19/26</a:t>
            </a:fld>
            <a:endParaRPr lang="en-US"/>
          </a:p>
        </p:txBody>
      </p:sp>
      <p:sp>
        <p:nvSpPr>
          <p:cNvPr id="5" name="Footer Placeholder 4">
            <a:extLst>
              <a:ext uri="{FF2B5EF4-FFF2-40B4-BE49-F238E27FC236}">
                <a16:creationId xmlns:a16="http://schemas.microsoft.com/office/drawing/2014/main" id="{9CD84914-AE91-BBBC-A378-3B045EB7D9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621BF9-6851-1FC5-C00E-F34B937932C5}"/>
              </a:ext>
            </a:extLst>
          </p:cNvPr>
          <p:cNvSpPr>
            <a:spLocks noGrp="1"/>
          </p:cNvSpPr>
          <p:nvPr>
            <p:ph type="sldNum" sz="quarter" idx="12"/>
          </p:nvPr>
        </p:nvSpPr>
        <p:spPr/>
        <p:txBody>
          <a:bodyPr/>
          <a:lstStyle/>
          <a:p>
            <a:fld id="{3517166C-6E1A-444E-9E34-A244E54DEAB3}" type="slidenum">
              <a:rPr lang="en-US" smtClean="0"/>
              <a:t>‹#›</a:t>
            </a:fld>
            <a:endParaRPr lang="en-US"/>
          </a:p>
        </p:txBody>
      </p:sp>
    </p:spTree>
    <p:extLst>
      <p:ext uri="{BB962C8B-B14F-4D97-AF65-F5344CB8AC3E}">
        <p14:creationId xmlns:p14="http://schemas.microsoft.com/office/powerpoint/2010/main" val="2124151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9D86E-69AA-37C1-01F5-8C1B82B888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B08E3B-4416-3415-010D-5A9BB892FE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118214-6F00-3D08-4446-FC19DB72A1F1}"/>
              </a:ext>
            </a:extLst>
          </p:cNvPr>
          <p:cNvSpPr>
            <a:spLocks noGrp="1"/>
          </p:cNvSpPr>
          <p:nvPr>
            <p:ph type="dt" sz="half" idx="10"/>
          </p:nvPr>
        </p:nvSpPr>
        <p:spPr/>
        <p:txBody>
          <a:bodyPr/>
          <a:lstStyle/>
          <a:p>
            <a:fld id="{F9F5A9D2-F36D-EA4E-A5DE-2D6A60CBEC7C}" type="datetimeFigureOut">
              <a:rPr lang="en-US" smtClean="0"/>
              <a:t>10/19/26</a:t>
            </a:fld>
            <a:endParaRPr lang="en-US"/>
          </a:p>
        </p:txBody>
      </p:sp>
      <p:sp>
        <p:nvSpPr>
          <p:cNvPr id="5" name="Footer Placeholder 4">
            <a:extLst>
              <a:ext uri="{FF2B5EF4-FFF2-40B4-BE49-F238E27FC236}">
                <a16:creationId xmlns:a16="http://schemas.microsoft.com/office/drawing/2014/main" id="{A4DA8709-05A7-A7F9-1BCB-6AB407A3C9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A0896-818F-2F10-D336-80EDCC3EC2BB}"/>
              </a:ext>
            </a:extLst>
          </p:cNvPr>
          <p:cNvSpPr>
            <a:spLocks noGrp="1"/>
          </p:cNvSpPr>
          <p:nvPr>
            <p:ph type="sldNum" sz="quarter" idx="12"/>
          </p:nvPr>
        </p:nvSpPr>
        <p:spPr/>
        <p:txBody>
          <a:bodyPr/>
          <a:lstStyle/>
          <a:p>
            <a:fld id="{3517166C-6E1A-444E-9E34-A244E54DEAB3}" type="slidenum">
              <a:rPr lang="en-US" smtClean="0"/>
              <a:t>‹#›</a:t>
            </a:fld>
            <a:endParaRPr lang="en-US"/>
          </a:p>
        </p:txBody>
      </p:sp>
    </p:spTree>
    <p:extLst>
      <p:ext uri="{BB962C8B-B14F-4D97-AF65-F5344CB8AC3E}">
        <p14:creationId xmlns:p14="http://schemas.microsoft.com/office/powerpoint/2010/main" val="2299042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DCEC6-F2B7-6D30-1F02-637CF723FA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1367A8-D5B3-F669-99CE-56D0DC7989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C09058-B95D-6F5E-6786-8702BD7FC5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6C30A9-B4D5-9B37-6170-968D81FED741}"/>
              </a:ext>
            </a:extLst>
          </p:cNvPr>
          <p:cNvSpPr>
            <a:spLocks noGrp="1"/>
          </p:cNvSpPr>
          <p:nvPr>
            <p:ph type="dt" sz="half" idx="10"/>
          </p:nvPr>
        </p:nvSpPr>
        <p:spPr/>
        <p:txBody>
          <a:bodyPr/>
          <a:lstStyle/>
          <a:p>
            <a:fld id="{F9F5A9D2-F36D-EA4E-A5DE-2D6A60CBEC7C}" type="datetimeFigureOut">
              <a:rPr lang="en-US" smtClean="0"/>
              <a:t>10/19/26</a:t>
            </a:fld>
            <a:endParaRPr lang="en-US"/>
          </a:p>
        </p:txBody>
      </p:sp>
      <p:sp>
        <p:nvSpPr>
          <p:cNvPr id="6" name="Footer Placeholder 5">
            <a:extLst>
              <a:ext uri="{FF2B5EF4-FFF2-40B4-BE49-F238E27FC236}">
                <a16:creationId xmlns:a16="http://schemas.microsoft.com/office/drawing/2014/main" id="{CFDECB08-FA76-8C85-47C3-AAA97784A8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4D0E67-1F8A-C53D-E100-B47D568A864E}"/>
              </a:ext>
            </a:extLst>
          </p:cNvPr>
          <p:cNvSpPr>
            <a:spLocks noGrp="1"/>
          </p:cNvSpPr>
          <p:nvPr>
            <p:ph type="sldNum" sz="quarter" idx="12"/>
          </p:nvPr>
        </p:nvSpPr>
        <p:spPr/>
        <p:txBody>
          <a:bodyPr/>
          <a:lstStyle/>
          <a:p>
            <a:fld id="{3517166C-6E1A-444E-9E34-A244E54DEAB3}" type="slidenum">
              <a:rPr lang="en-US" smtClean="0"/>
              <a:t>‹#›</a:t>
            </a:fld>
            <a:endParaRPr lang="en-US"/>
          </a:p>
        </p:txBody>
      </p:sp>
    </p:spTree>
    <p:extLst>
      <p:ext uri="{BB962C8B-B14F-4D97-AF65-F5344CB8AC3E}">
        <p14:creationId xmlns:p14="http://schemas.microsoft.com/office/powerpoint/2010/main" val="876833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6A83D-E5FE-8DC4-F6B2-A5974D349E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DAC0D9-65CD-752E-7506-935A00236C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5D4FED-0695-45DB-C8B2-78D4F8509C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4E9E91-D001-C137-FB31-3A71C745E1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1E0B7C-5D26-BA59-2F15-BE23E788EC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5A597A-E5C6-7AEA-EAB8-C435E9940672}"/>
              </a:ext>
            </a:extLst>
          </p:cNvPr>
          <p:cNvSpPr>
            <a:spLocks noGrp="1"/>
          </p:cNvSpPr>
          <p:nvPr>
            <p:ph type="dt" sz="half" idx="10"/>
          </p:nvPr>
        </p:nvSpPr>
        <p:spPr/>
        <p:txBody>
          <a:bodyPr/>
          <a:lstStyle/>
          <a:p>
            <a:fld id="{F9F5A9D2-F36D-EA4E-A5DE-2D6A60CBEC7C}" type="datetimeFigureOut">
              <a:rPr lang="en-US" smtClean="0"/>
              <a:t>10/19/26</a:t>
            </a:fld>
            <a:endParaRPr lang="en-US"/>
          </a:p>
        </p:txBody>
      </p:sp>
      <p:sp>
        <p:nvSpPr>
          <p:cNvPr id="8" name="Footer Placeholder 7">
            <a:extLst>
              <a:ext uri="{FF2B5EF4-FFF2-40B4-BE49-F238E27FC236}">
                <a16:creationId xmlns:a16="http://schemas.microsoft.com/office/drawing/2014/main" id="{1669B909-7582-FF88-6908-B298A28040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9537EF-8080-87A5-8639-780E360AD4AC}"/>
              </a:ext>
            </a:extLst>
          </p:cNvPr>
          <p:cNvSpPr>
            <a:spLocks noGrp="1"/>
          </p:cNvSpPr>
          <p:nvPr>
            <p:ph type="sldNum" sz="quarter" idx="12"/>
          </p:nvPr>
        </p:nvSpPr>
        <p:spPr/>
        <p:txBody>
          <a:bodyPr/>
          <a:lstStyle/>
          <a:p>
            <a:fld id="{3517166C-6E1A-444E-9E34-A244E54DEAB3}" type="slidenum">
              <a:rPr lang="en-US" smtClean="0"/>
              <a:t>‹#›</a:t>
            </a:fld>
            <a:endParaRPr lang="en-US"/>
          </a:p>
        </p:txBody>
      </p:sp>
    </p:spTree>
    <p:extLst>
      <p:ext uri="{BB962C8B-B14F-4D97-AF65-F5344CB8AC3E}">
        <p14:creationId xmlns:p14="http://schemas.microsoft.com/office/powerpoint/2010/main" val="1556089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AC4B2-DED5-4719-F65A-7FBE2BF022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4FFCA3-D555-7FFE-4397-1578CEECEC4C}"/>
              </a:ext>
            </a:extLst>
          </p:cNvPr>
          <p:cNvSpPr>
            <a:spLocks noGrp="1"/>
          </p:cNvSpPr>
          <p:nvPr>
            <p:ph type="dt" sz="half" idx="10"/>
          </p:nvPr>
        </p:nvSpPr>
        <p:spPr/>
        <p:txBody>
          <a:bodyPr/>
          <a:lstStyle/>
          <a:p>
            <a:fld id="{F9F5A9D2-F36D-EA4E-A5DE-2D6A60CBEC7C}" type="datetimeFigureOut">
              <a:rPr lang="en-US" smtClean="0"/>
              <a:t>10/19/26</a:t>
            </a:fld>
            <a:endParaRPr lang="en-US"/>
          </a:p>
        </p:txBody>
      </p:sp>
      <p:sp>
        <p:nvSpPr>
          <p:cNvPr id="4" name="Footer Placeholder 3">
            <a:extLst>
              <a:ext uri="{FF2B5EF4-FFF2-40B4-BE49-F238E27FC236}">
                <a16:creationId xmlns:a16="http://schemas.microsoft.com/office/drawing/2014/main" id="{DF19C733-FADA-76AD-2312-8BFA4E7845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B70D28-693D-8B3A-7809-3239FE2F3170}"/>
              </a:ext>
            </a:extLst>
          </p:cNvPr>
          <p:cNvSpPr>
            <a:spLocks noGrp="1"/>
          </p:cNvSpPr>
          <p:nvPr>
            <p:ph type="sldNum" sz="quarter" idx="12"/>
          </p:nvPr>
        </p:nvSpPr>
        <p:spPr/>
        <p:txBody>
          <a:bodyPr/>
          <a:lstStyle/>
          <a:p>
            <a:fld id="{3517166C-6E1A-444E-9E34-A244E54DEAB3}" type="slidenum">
              <a:rPr lang="en-US" smtClean="0"/>
              <a:t>‹#›</a:t>
            </a:fld>
            <a:endParaRPr lang="en-US"/>
          </a:p>
        </p:txBody>
      </p:sp>
    </p:spTree>
    <p:extLst>
      <p:ext uri="{BB962C8B-B14F-4D97-AF65-F5344CB8AC3E}">
        <p14:creationId xmlns:p14="http://schemas.microsoft.com/office/powerpoint/2010/main" val="2005559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AF317-CF7D-D2CA-D920-49039CEAF4DF}"/>
              </a:ext>
            </a:extLst>
          </p:cNvPr>
          <p:cNvSpPr>
            <a:spLocks noGrp="1"/>
          </p:cNvSpPr>
          <p:nvPr>
            <p:ph type="dt" sz="half" idx="10"/>
          </p:nvPr>
        </p:nvSpPr>
        <p:spPr/>
        <p:txBody>
          <a:bodyPr/>
          <a:lstStyle/>
          <a:p>
            <a:fld id="{F9F5A9D2-F36D-EA4E-A5DE-2D6A60CBEC7C}" type="datetimeFigureOut">
              <a:rPr lang="en-US" smtClean="0"/>
              <a:t>10/19/26</a:t>
            </a:fld>
            <a:endParaRPr lang="en-US"/>
          </a:p>
        </p:txBody>
      </p:sp>
      <p:sp>
        <p:nvSpPr>
          <p:cNvPr id="3" name="Footer Placeholder 2">
            <a:extLst>
              <a:ext uri="{FF2B5EF4-FFF2-40B4-BE49-F238E27FC236}">
                <a16:creationId xmlns:a16="http://schemas.microsoft.com/office/drawing/2014/main" id="{AED8BE75-6FCF-EA71-AC01-AA54B0C2C50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55B221-3B87-A5E4-4423-29DE4727F2CB}"/>
              </a:ext>
            </a:extLst>
          </p:cNvPr>
          <p:cNvSpPr>
            <a:spLocks noGrp="1"/>
          </p:cNvSpPr>
          <p:nvPr>
            <p:ph type="sldNum" sz="quarter" idx="12"/>
          </p:nvPr>
        </p:nvSpPr>
        <p:spPr/>
        <p:txBody>
          <a:bodyPr/>
          <a:lstStyle/>
          <a:p>
            <a:fld id="{3517166C-6E1A-444E-9E34-A244E54DEAB3}" type="slidenum">
              <a:rPr lang="en-US" smtClean="0"/>
              <a:t>‹#›</a:t>
            </a:fld>
            <a:endParaRPr lang="en-US"/>
          </a:p>
        </p:txBody>
      </p:sp>
    </p:spTree>
    <p:extLst>
      <p:ext uri="{BB962C8B-B14F-4D97-AF65-F5344CB8AC3E}">
        <p14:creationId xmlns:p14="http://schemas.microsoft.com/office/powerpoint/2010/main" val="3609206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11182-8668-C831-B731-4DC8024B87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8EF9A1-BA7C-EBFC-EEBC-0B2781AB64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D2D03C-C5FB-1CB0-3903-E3A4CBF544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B97A00-AAE8-B5B9-4EAB-7287825C90B9}"/>
              </a:ext>
            </a:extLst>
          </p:cNvPr>
          <p:cNvSpPr>
            <a:spLocks noGrp="1"/>
          </p:cNvSpPr>
          <p:nvPr>
            <p:ph type="dt" sz="half" idx="10"/>
          </p:nvPr>
        </p:nvSpPr>
        <p:spPr/>
        <p:txBody>
          <a:bodyPr/>
          <a:lstStyle/>
          <a:p>
            <a:fld id="{F9F5A9D2-F36D-EA4E-A5DE-2D6A60CBEC7C}" type="datetimeFigureOut">
              <a:rPr lang="en-US" smtClean="0"/>
              <a:t>10/19/26</a:t>
            </a:fld>
            <a:endParaRPr lang="en-US"/>
          </a:p>
        </p:txBody>
      </p:sp>
      <p:sp>
        <p:nvSpPr>
          <p:cNvPr id="6" name="Footer Placeholder 5">
            <a:extLst>
              <a:ext uri="{FF2B5EF4-FFF2-40B4-BE49-F238E27FC236}">
                <a16:creationId xmlns:a16="http://schemas.microsoft.com/office/drawing/2014/main" id="{1508E5D6-FA61-1311-DDAB-BBCECF18D2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1FEA44-4ADF-D84C-1E54-9C9FB8B89FAF}"/>
              </a:ext>
            </a:extLst>
          </p:cNvPr>
          <p:cNvSpPr>
            <a:spLocks noGrp="1"/>
          </p:cNvSpPr>
          <p:nvPr>
            <p:ph type="sldNum" sz="quarter" idx="12"/>
          </p:nvPr>
        </p:nvSpPr>
        <p:spPr/>
        <p:txBody>
          <a:bodyPr/>
          <a:lstStyle/>
          <a:p>
            <a:fld id="{3517166C-6E1A-444E-9E34-A244E54DEAB3}" type="slidenum">
              <a:rPr lang="en-US" smtClean="0"/>
              <a:t>‹#›</a:t>
            </a:fld>
            <a:endParaRPr lang="en-US"/>
          </a:p>
        </p:txBody>
      </p:sp>
    </p:spTree>
    <p:extLst>
      <p:ext uri="{BB962C8B-B14F-4D97-AF65-F5344CB8AC3E}">
        <p14:creationId xmlns:p14="http://schemas.microsoft.com/office/powerpoint/2010/main" val="3909708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34F90-5AD4-D514-04C8-3C1738537E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FE706E-74B8-E15C-AFEF-31C85708527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011726C-CC2B-2193-EDDE-1CE9AC651F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629B75-A265-BA32-C796-DF10FA15E24E}"/>
              </a:ext>
            </a:extLst>
          </p:cNvPr>
          <p:cNvSpPr>
            <a:spLocks noGrp="1"/>
          </p:cNvSpPr>
          <p:nvPr>
            <p:ph type="dt" sz="half" idx="10"/>
          </p:nvPr>
        </p:nvSpPr>
        <p:spPr/>
        <p:txBody>
          <a:bodyPr/>
          <a:lstStyle/>
          <a:p>
            <a:fld id="{F9F5A9D2-F36D-EA4E-A5DE-2D6A60CBEC7C}" type="datetimeFigureOut">
              <a:rPr lang="en-US" smtClean="0"/>
              <a:t>10/19/26</a:t>
            </a:fld>
            <a:endParaRPr lang="en-US"/>
          </a:p>
        </p:txBody>
      </p:sp>
      <p:sp>
        <p:nvSpPr>
          <p:cNvPr id="6" name="Footer Placeholder 5">
            <a:extLst>
              <a:ext uri="{FF2B5EF4-FFF2-40B4-BE49-F238E27FC236}">
                <a16:creationId xmlns:a16="http://schemas.microsoft.com/office/drawing/2014/main" id="{996FAC0E-F57A-B292-C07D-E12446472C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38EA27-7159-5585-66AB-E92FB1852504}"/>
              </a:ext>
            </a:extLst>
          </p:cNvPr>
          <p:cNvSpPr>
            <a:spLocks noGrp="1"/>
          </p:cNvSpPr>
          <p:nvPr>
            <p:ph type="sldNum" sz="quarter" idx="12"/>
          </p:nvPr>
        </p:nvSpPr>
        <p:spPr/>
        <p:txBody>
          <a:bodyPr/>
          <a:lstStyle/>
          <a:p>
            <a:fld id="{3517166C-6E1A-444E-9E34-A244E54DEAB3}" type="slidenum">
              <a:rPr lang="en-US" smtClean="0"/>
              <a:t>‹#›</a:t>
            </a:fld>
            <a:endParaRPr lang="en-US"/>
          </a:p>
        </p:txBody>
      </p:sp>
    </p:spTree>
    <p:extLst>
      <p:ext uri="{BB962C8B-B14F-4D97-AF65-F5344CB8AC3E}">
        <p14:creationId xmlns:p14="http://schemas.microsoft.com/office/powerpoint/2010/main" val="2101510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B1A97-66D9-712E-CB33-0D863FE892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87F6DF-DC09-283C-6EC3-542B98E841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F0CCFE-749F-54A5-8EF8-1270EA4EA120}"/>
              </a:ext>
            </a:extLst>
          </p:cNvPr>
          <p:cNvSpPr>
            <a:spLocks noGrp="1"/>
          </p:cNvSpPr>
          <p:nvPr>
            <p:ph type="dt" sz="half" idx="10"/>
          </p:nvPr>
        </p:nvSpPr>
        <p:spPr/>
        <p:txBody>
          <a:bodyPr/>
          <a:lstStyle/>
          <a:p>
            <a:fld id="{F9F5A9D2-F36D-EA4E-A5DE-2D6A60CBEC7C}" type="datetimeFigureOut">
              <a:rPr lang="en-US" smtClean="0"/>
              <a:t>10/19/26</a:t>
            </a:fld>
            <a:endParaRPr lang="en-US"/>
          </a:p>
        </p:txBody>
      </p:sp>
      <p:sp>
        <p:nvSpPr>
          <p:cNvPr id="5" name="Footer Placeholder 4">
            <a:extLst>
              <a:ext uri="{FF2B5EF4-FFF2-40B4-BE49-F238E27FC236}">
                <a16:creationId xmlns:a16="http://schemas.microsoft.com/office/drawing/2014/main" id="{3DE4EBBA-66EF-DF58-98C3-3DA0FFFE4E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B704C5-85D5-D67D-030B-338C2227DCB1}"/>
              </a:ext>
            </a:extLst>
          </p:cNvPr>
          <p:cNvSpPr>
            <a:spLocks noGrp="1"/>
          </p:cNvSpPr>
          <p:nvPr>
            <p:ph type="sldNum" sz="quarter" idx="12"/>
          </p:nvPr>
        </p:nvSpPr>
        <p:spPr/>
        <p:txBody>
          <a:bodyPr/>
          <a:lstStyle/>
          <a:p>
            <a:fld id="{3517166C-6E1A-444E-9E34-A244E54DEAB3}" type="slidenum">
              <a:rPr lang="en-US" smtClean="0"/>
              <a:t>‹#›</a:t>
            </a:fld>
            <a:endParaRPr lang="en-US"/>
          </a:p>
        </p:txBody>
      </p:sp>
    </p:spTree>
    <p:extLst>
      <p:ext uri="{BB962C8B-B14F-4D97-AF65-F5344CB8AC3E}">
        <p14:creationId xmlns:p14="http://schemas.microsoft.com/office/powerpoint/2010/main" val="175327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3B85A9-67EA-3FDF-62BC-08C44E31E4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EABAD1-CC30-517B-644A-F76B4F6E7B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765DB-D7A3-B732-6AAE-D9A247713C27}"/>
              </a:ext>
            </a:extLst>
          </p:cNvPr>
          <p:cNvSpPr>
            <a:spLocks noGrp="1"/>
          </p:cNvSpPr>
          <p:nvPr>
            <p:ph type="dt" sz="half" idx="10"/>
          </p:nvPr>
        </p:nvSpPr>
        <p:spPr/>
        <p:txBody>
          <a:bodyPr/>
          <a:lstStyle/>
          <a:p>
            <a:fld id="{F9F5A9D2-F36D-EA4E-A5DE-2D6A60CBEC7C}" type="datetimeFigureOut">
              <a:rPr lang="en-US" smtClean="0"/>
              <a:t>10/19/26</a:t>
            </a:fld>
            <a:endParaRPr lang="en-US"/>
          </a:p>
        </p:txBody>
      </p:sp>
      <p:sp>
        <p:nvSpPr>
          <p:cNvPr id="5" name="Footer Placeholder 4">
            <a:extLst>
              <a:ext uri="{FF2B5EF4-FFF2-40B4-BE49-F238E27FC236}">
                <a16:creationId xmlns:a16="http://schemas.microsoft.com/office/drawing/2014/main" id="{B2669F88-8671-A552-6752-CB7C12DC3E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2FF717-3315-C97A-7582-B47280EBAF10}"/>
              </a:ext>
            </a:extLst>
          </p:cNvPr>
          <p:cNvSpPr>
            <a:spLocks noGrp="1"/>
          </p:cNvSpPr>
          <p:nvPr>
            <p:ph type="sldNum" sz="quarter" idx="12"/>
          </p:nvPr>
        </p:nvSpPr>
        <p:spPr/>
        <p:txBody>
          <a:bodyPr/>
          <a:lstStyle/>
          <a:p>
            <a:fld id="{3517166C-6E1A-444E-9E34-A244E54DEAB3}" type="slidenum">
              <a:rPr lang="en-US" smtClean="0"/>
              <a:t>‹#›</a:t>
            </a:fld>
            <a:endParaRPr lang="en-US"/>
          </a:p>
        </p:txBody>
      </p:sp>
    </p:spTree>
    <p:extLst>
      <p:ext uri="{BB962C8B-B14F-4D97-AF65-F5344CB8AC3E}">
        <p14:creationId xmlns:p14="http://schemas.microsoft.com/office/powerpoint/2010/main" val="3152339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D4C6BA-803C-4CE0-5C74-4F92EEBB8B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876180-D978-7447-6551-4EA1DF8F44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341215-34E5-A07E-BBC3-DB8EE3CA8E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F5A9D2-F36D-EA4E-A5DE-2D6A60CBEC7C}" type="datetimeFigureOut">
              <a:rPr lang="en-US" smtClean="0"/>
              <a:t>10/19/26</a:t>
            </a:fld>
            <a:endParaRPr lang="en-US"/>
          </a:p>
        </p:txBody>
      </p:sp>
      <p:sp>
        <p:nvSpPr>
          <p:cNvPr id="5" name="Footer Placeholder 4">
            <a:extLst>
              <a:ext uri="{FF2B5EF4-FFF2-40B4-BE49-F238E27FC236}">
                <a16:creationId xmlns:a16="http://schemas.microsoft.com/office/drawing/2014/main" id="{F6FE11A1-898D-D9FB-0A52-168819191E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3296C60-3794-0421-46EA-9D34F0D8C4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17166C-6E1A-444E-9E34-A244E54DEAB3}" type="slidenum">
              <a:rPr lang="en-US" smtClean="0"/>
              <a:t>‹#›</a:t>
            </a:fld>
            <a:endParaRPr lang="en-US"/>
          </a:p>
        </p:txBody>
      </p:sp>
    </p:spTree>
    <p:extLst>
      <p:ext uri="{BB962C8B-B14F-4D97-AF65-F5344CB8AC3E}">
        <p14:creationId xmlns:p14="http://schemas.microsoft.com/office/powerpoint/2010/main" val="764071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ftp.cdc.gov/pub/Health_Statistics/NCHS/Datasets/DVS/period-cohort-linked/2024PE2023CO.zip"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ftp.cdc.gov/pub/Health_Statistics/NCHS/Dataset_Documentation/DVS/period-cohort-linked/24PE23CO_linkedUG.pdf" TargetMode="External"/><Relationship Id="rId2" Type="http://schemas.openxmlformats.org/officeDocument/2006/relationships/hyperlink" Target="https://ftp.cdc.gov/pub/Health_Statistics/NCHS/Datasets/DVS/period-cohort-linked/2024PE2023CO.zip" TargetMode="External"/><Relationship Id="rId1" Type="http://schemas.openxmlformats.org/officeDocument/2006/relationships/slideLayout" Target="../slideLayouts/slideLayout1.xml"/><Relationship Id="rId4" Type="http://schemas.openxmlformats.org/officeDocument/2006/relationships/hyperlink" Target="https://claude.a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4F19B-82B8-7616-E3A9-CE3BAAAB7CB9}"/>
              </a:ext>
            </a:extLst>
          </p:cNvPr>
          <p:cNvSpPr>
            <a:spLocks noGrp="1"/>
          </p:cNvSpPr>
          <p:nvPr>
            <p:ph type="ctrTitle"/>
          </p:nvPr>
        </p:nvSpPr>
        <p:spPr/>
        <p:txBody>
          <a:bodyPr>
            <a:normAutofit/>
          </a:bodyPr>
          <a:lstStyle/>
          <a:p>
            <a:r>
              <a:rPr lang="en-US" sz="4800" dirty="0"/>
              <a:t>Exploring Preterm Births with K-Means and Other ML Techniques</a:t>
            </a:r>
          </a:p>
        </p:txBody>
      </p:sp>
      <p:sp>
        <p:nvSpPr>
          <p:cNvPr id="3" name="Subtitle 2">
            <a:extLst>
              <a:ext uri="{FF2B5EF4-FFF2-40B4-BE49-F238E27FC236}">
                <a16:creationId xmlns:a16="http://schemas.microsoft.com/office/drawing/2014/main" id="{A932254C-CD13-3AED-9F00-7D9F8E2E5280}"/>
              </a:ext>
            </a:extLst>
          </p:cNvPr>
          <p:cNvSpPr>
            <a:spLocks noGrp="1"/>
          </p:cNvSpPr>
          <p:nvPr>
            <p:ph type="subTitle" idx="1"/>
          </p:nvPr>
        </p:nvSpPr>
        <p:spPr>
          <a:xfrm>
            <a:off x="1524000" y="4344317"/>
            <a:ext cx="9144000" cy="1655762"/>
          </a:xfrm>
        </p:spPr>
        <p:txBody>
          <a:bodyPr>
            <a:normAutofit lnSpcReduction="10000"/>
          </a:bodyPr>
          <a:lstStyle/>
          <a:p>
            <a:r>
              <a:rPr lang="en-US" dirty="0"/>
              <a:t>AI in Healthcare</a:t>
            </a:r>
          </a:p>
          <a:p>
            <a:r>
              <a:rPr lang="en-US" dirty="0"/>
              <a:t>Self Learning Tutorial</a:t>
            </a:r>
          </a:p>
          <a:p>
            <a:r>
              <a:rPr lang="en-US" dirty="0"/>
              <a:t>10/2026</a:t>
            </a:r>
          </a:p>
          <a:p>
            <a:r>
              <a:rPr lang="en-US" dirty="0"/>
              <a:t>https://</a:t>
            </a:r>
            <a:r>
              <a:rPr lang="en-US" dirty="0" err="1"/>
              <a:t>github.com</a:t>
            </a:r>
            <a:r>
              <a:rPr lang="en-US" dirty="0"/>
              <a:t>/AIHfall2026/Self_Learning_Tutorial_Fall_2026/</a:t>
            </a:r>
          </a:p>
        </p:txBody>
      </p:sp>
    </p:spTree>
    <p:extLst>
      <p:ext uri="{BB962C8B-B14F-4D97-AF65-F5344CB8AC3E}">
        <p14:creationId xmlns:p14="http://schemas.microsoft.com/office/powerpoint/2010/main" val="645441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89B0D-5FDF-E1AD-4588-1CBB7B426F5F}"/>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1A43155B-F64A-EE3A-7912-30CAE1F955BD}"/>
              </a:ext>
            </a:extLst>
          </p:cNvPr>
          <p:cNvSpPr>
            <a:spLocks noGrp="1"/>
          </p:cNvSpPr>
          <p:nvPr>
            <p:ph idx="1"/>
          </p:nvPr>
        </p:nvSpPr>
        <p:spPr>
          <a:xfrm>
            <a:off x="838200" y="1473798"/>
            <a:ext cx="10515600" cy="4703165"/>
          </a:xfrm>
        </p:spPr>
        <p:txBody>
          <a:bodyPr>
            <a:normAutofit/>
          </a:bodyPr>
          <a:lstStyle/>
          <a:p>
            <a:pPr>
              <a:buFont typeface="Wingdings" pitchFamily="2" charset="2"/>
              <a:buChar char="§"/>
            </a:pPr>
            <a:r>
              <a:rPr lang="en-US" dirty="0"/>
              <a:t>A preterm or premature birth is defined as a birth of a baby before 37 weeks</a:t>
            </a:r>
          </a:p>
          <a:p>
            <a:pPr>
              <a:buFont typeface="Wingdings" pitchFamily="2" charset="2"/>
              <a:buChar char="§"/>
            </a:pPr>
            <a:r>
              <a:rPr lang="en-US" dirty="0"/>
              <a:t>In the US, approximately 10% - 11% of births are preterm</a:t>
            </a:r>
          </a:p>
          <a:p>
            <a:pPr>
              <a:buFont typeface="Wingdings" pitchFamily="2" charset="2"/>
              <a:buChar char="§"/>
            </a:pPr>
            <a:r>
              <a:rPr lang="en-US" dirty="0"/>
              <a:t>Premature birth can have a wide range of outcomes and impacts on those children and their families</a:t>
            </a:r>
          </a:p>
          <a:p>
            <a:pPr>
              <a:buFont typeface="Wingdings" pitchFamily="2" charset="2"/>
              <a:buChar char="§"/>
            </a:pPr>
            <a:r>
              <a:rPr lang="en-US" dirty="0"/>
              <a:t>CDC’s linked infant birth/death records has data on preterm births.</a:t>
            </a:r>
          </a:p>
          <a:p>
            <a:pPr>
              <a:buFont typeface="Wingdings" pitchFamily="2" charset="2"/>
              <a:buChar char="§"/>
            </a:pPr>
            <a:r>
              <a:rPr lang="en-US" dirty="0"/>
              <a:t>Goal: can we look at the data to group different types of preterm births and measure what, if any, different outcomes they face.</a:t>
            </a:r>
          </a:p>
          <a:p>
            <a:pPr>
              <a:buFont typeface="Wingdings" pitchFamily="2" charset="2"/>
              <a:buChar char="§"/>
            </a:pPr>
            <a:r>
              <a:rPr lang="en-US" dirty="0"/>
              <a:t>Use ML methods in this case</a:t>
            </a:r>
          </a:p>
        </p:txBody>
      </p:sp>
    </p:spTree>
    <p:extLst>
      <p:ext uri="{BB962C8B-B14F-4D97-AF65-F5344CB8AC3E}">
        <p14:creationId xmlns:p14="http://schemas.microsoft.com/office/powerpoint/2010/main" val="1545858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DCBE8-BA7D-3BDE-36B1-622FEB6C098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C87A132-0C3E-C063-9A4C-E6E5D41347C8}"/>
              </a:ext>
            </a:extLst>
          </p:cNvPr>
          <p:cNvPicPr>
            <a:picLocks noChangeAspect="1"/>
          </p:cNvPicPr>
          <p:nvPr/>
        </p:nvPicPr>
        <p:blipFill>
          <a:blip r:embed="rId3"/>
          <a:stretch>
            <a:fillRect/>
          </a:stretch>
        </p:blipFill>
        <p:spPr>
          <a:xfrm>
            <a:off x="815546" y="103750"/>
            <a:ext cx="10070756" cy="6650499"/>
          </a:xfrm>
          <a:prstGeom prst="rect">
            <a:avLst/>
          </a:prstGeom>
        </p:spPr>
      </p:pic>
    </p:spTree>
    <p:extLst>
      <p:ext uri="{BB962C8B-B14F-4D97-AF65-F5344CB8AC3E}">
        <p14:creationId xmlns:p14="http://schemas.microsoft.com/office/powerpoint/2010/main" val="3167102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48B96-F1D4-09CA-A03C-0F9906D0B95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FED09E5-A90C-5BAE-85EA-945E9F2AC8A8}"/>
              </a:ext>
            </a:extLst>
          </p:cNvPr>
          <p:cNvPicPr>
            <a:picLocks noChangeAspect="1"/>
          </p:cNvPicPr>
          <p:nvPr/>
        </p:nvPicPr>
        <p:blipFill>
          <a:blip r:embed="rId3"/>
          <a:stretch>
            <a:fillRect/>
          </a:stretch>
        </p:blipFill>
        <p:spPr>
          <a:xfrm>
            <a:off x="978945" y="118335"/>
            <a:ext cx="10130347" cy="6689852"/>
          </a:xfrm>
          <a:prstGeom prst="rect">
            <a:avLst/>
          </a:prstGeom>
        </p:spPr>
      </p:pic>
    </p:spTree>
    <p:extLst>
      <p:ext uri="{BB962C8B-B14F-4D97-AF65-F5344CB8AC3E}">
        <p14:creationId xmlns:p14="http://schemas.microsoft.com/office/powerpoint/2010/main" val="769237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A3970-E18F-9D71-D723-9E9ED2060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161EA-13B6-61F1-7FEC-114FB736EB0B}"/>
              </a:ext>
            </a:extLst>
          </p:cNvPr>
          <p:cNvSpPr>
            <a:spLocks noGrp="1"/>
          </p:cNvSpPr>
          <p:nvPr>
            <p:ph type="title"/>
          </p:nvPr>
        </p:nvSpPr>
        <p:spPr/>
        <p:txBody>
          <a:bodyPr/>
          <a:lstStyle/>
          <a:p>
            <a:r>
              <a:rPr lang="en-US" dirty="0"/>
              <a:t>CDC Linked Infant Birth and Death Records</a:t>
            </a:r>
          </a:p>
        </p:txBody>
      </p:sp>
      <p:sp>
        <p:nvSpPr>
          <p:cNvPr id="3" name="Content Placeholder 2">
            <a:extLst>
              <a:ext uri="{FF2B5EF4-FFF2-40B4-BE49-F238E27FC236}">
                <a16:creationId xmlns:a16="http://schemas.microsoft.com/office/drawing/2014/main" id="{FBBD7E45-E343-4357-860A-9E9B564F6C04}"/>
              </a:ext>
            </a:extLst>
          </p:cNvPr>
          <p:cNvSpPr>
            <a:spLocks noGrp="1"/>
          </p:cNvSpPr>
          <p:nvPr>
            <p:ph idx="1"/>
          </p:nvPr>
        </p:nvSpPr>
        <p:spPr/>
        <p:txBody>
          <a:bodyPr>
            <a:normAutofit lnSpcReduction="10000"/>
          </a:bodyPr>
          <a:lstStyle/>
          <a:p>
            <a:r>
              <a:rPr lang="en-US" dirty="0"/>
              <a:t>Our basis for analysis is the CDC 2023 cohort of infant birth and death records (CDC tracks all deaths of infant before the age of 1).</a:t>
            </a:r>
          </a:p>
          <a:p>
            <a:r>
              <a:rPr lang="en-US" dirty="0"/>
              <a:t>The data can be found from the US CDC National Center for Health Statistics: </a:t>
            </a:r>
            <a:r>
              <a:rPr lang="en-US" dirty="0">
                <a:hlinkClick r:id="rId3"/>
              </a:rPr>
              <a:t>https://ftp.cdc.gov/pub/Health_Statistics/NCHS/Datasets/DVS/period-cohort-linked/2024PE2023CO.zip</a:t>
            </a:r>
            <a:endParaRPr lang="en-US" dirty="0"/>
          </a:p>
          <a:p>
            <a:r>
              <a:rPr lang="en-US" dirty="0"/>
              <a:t>For US residents, we saw that there were &gt; 373K preterm births in 2023 (out of &gt; 3.6M births total), and we ultimately looked at &gt; 367K of those records</a:t>
            </a:r>
          </a:p>
          <a:p>
            <a:r>
              <a:rPr lang="en-US" dirty="0"/>
              <a:t>Roughly 9.5K of those records that we looked at ended in a death before the age of 1</a:t>
            </a:r>
          </a:p>
          <a:p>
            <a:endParaRPr lang="en-US" dirty="0"/>
          </a:p>
          <a:p>
            <a:endParaRPr lang="en-US" dirty="0"/>
          </a:p>
        </p:txBody>
      </p:sp>
    </p:spTree>
    <p:extLst>
      <p:ext uri="{BB962C8B-B14F-4D97-AF65-F5344CB8AC3E}">
        <p14:creationId xmlns:p14="http://schemas.microsoft.com/office/powerpoint/2010/main" val="1717794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980E3-C78C-FC97-BF53-06CA6BBD5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A82EE8-EB77-B9CD-8F06-5D8349967EF5}"/>
              </a:ext>
            </a:extLst>
          </p:cNvPr>
          <p:cNvSpPr>
            <a:spLocks noGrp="1"/>
          </p:cNvSpPr>
          <p:nvPr>
            <p:ph type="title"/>
          </p:nvPr>
        </p:nvSpPr>
        <p:spPr/>
        <p:txBody>
          <a:bodyPr/>
          <a:lstStyle/>
          <a:p>
            <a:r>
              <a:rPr lang="en-US" dirty="0"/>
              <a:t>Reading in the Data</a:t>
            </a:r>
          </a:p>
        </p:txBody>
      </p:sp>
      <p:sp>
        <p:nvSpPr>
          <p:cNvPr id="3" name="Content Placeholder 2">
            <a:extLst>
              <a:ext uri="{FF2B5EF4-FFF2-40B4-BE49-F238E27FC236}">
                <a16:creationId xmlns:a16="http://schemas.microsoft.com/office/drawing/2014/main" id="{07F007B2-F198-BEA5-4343-7DF363456BAE}"/>
              </a:ext>
            </a:extLst>
          </p:cNvPr>
          <p:cNvSpPr>
            <a:spLocks noGrp="1"/>
          </p:cNvSpPr>
          <p:nvPr>
            <p:ph idx="1"/>
          </p:nvPr>
        </p:nvSpPr>
        <p:spPr/>
        <p:txBody>
          <a:bodyPr/>
          <a:lstStyle/>
          <a:p>
            <a:r>
              <a:rPr lang="en-US" dirty="0"/>
              <a:t>Each row in the data represents one birth, but contains no commas or column headers</a:t>
            </a:r>
          </a:p>
          <a:p>
            <a:r>
              <a:rPr lang="en-US" dirty="0"/>
              <a:t>Instead the field values live in fixed positions in the rows</a:t>
            </a:r>
          </a:p>
          <a:p>
            <a:r>
              <a:rPr lang="en-US" dirty="0"/>
              <a:t>We use the CDC user guide for this dataset to develop this schema and store it in a dictionary called FIELDS. </a:t>
            </a:r>
          </a:p>
          <a:p>
            <a:r>
              <a:rPr lang="en-US" dirty="0"/>
              <a:t>User guide: https://</a:t>
            </a:r>
            <a:r>
              <a:rPr lang="en-US" dirty="0" err="1"/>
              <a:t>ftp.cdc.gov</a:t>
            </a:r>
            <a:r>
              <a:rPr lang="en-US" dirty="0"/>
              <a:t>/pub/</a:t>
            </a:r>
            <a:r>
              <a:rPr lang="en-US" dirty="0" err="1"/>
              <a:t>Health_Statistics</a:t>
            </a:r>
            <a:r>
              <a:rPr lang="en-US" dirty="0"/>
              <a:t>/NCHS/</a:t>
            </a:r>
            <a:r>
              <a:rPr lang="en-US" dirty="0" err="1"/>
              <a:t>Dataset_Documentation</a:t>
            </a:r>
            <a:r>
              <a:rPr lang="en-US" dirty="0"/>
              <a:t>/DVS/period-cohort-linked/24PE23CO_linkedUG.pdf</a:t>
            </a:r>
          </a:p>
          <a:p>
            <a:pPr marL="0" indent="0">
              <a:buNone/>
            </a:pPr>
            <a:endParaRPr lang="en-US" dirty="0"/>
          </a:p>
        </p:txBody>
      </p:sp>
    </p:spTree>
    <p:extLst>
      <p:ext uri="{BB962C8B-B14F-4D97-AF65-F5344CB8AC3E}">
        <p14:creationId xmlns:p14="http://schemas.microsoft.com/office/powerpoint/2010/main" val="118579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FDF24-4B1F-E4FF-20B8-C836AC3D775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87EB318-845F-4AA5-3FD9-A00DE2024099}"/>
              </a:ext>
            </a:extLst>
          </p:cNvPr>
          <p:cNvPicPr>
            <a:picLocks noChangeAspect="1"/>
          </p:cNvPicPr>
          <p:nvPr/>
        </p:nvPicPr>
        <p:blipFill>
          <a:blip r:embed="rId3"/>
          <a:stretch>
            <a:fillRect/>
          </a:stretch>
        </p:blipFill>
        <p:spPr>
          <a:xfrm>
            <a:off x="520511" y="2158585"/>
            <a:ext cx="10996896" cy="1543424"/>
          </a:xfrm>
          <a:prstGeom prst="rect">
            <a:avLst/>
          </a:prstGeom>
        </p:spPr>
      </p:pic>
      <p:pic>
        <p:nvPicPr>
          <p:cNvPr id="9" name="Picture 8">
            <a:extLst>
              <a:ext uri="{FF2B5EF4-FFF2-40B4-BE49-F238E27FC236}">
                <a16:creationId xmlns:a16="http://schemas.microsoft.com/office/drawing/2014/main" id="{6D8E8B53-E5B8-C57B-75B1-7412DB9C05FC}"/>
              </a:ext>
            </a:extLst>
          </p:cNvPr>
          <p:cNvPicPr>
            <a:picLocks noChangeAspect="1"/>
          </p:cNvPicPr>
          <p:nvPr/>
        </p:nvPicPr>
        <p:blipFill>
          <a:blip r:embed="rId4"/>
          <a:stretch>
            <a:fillRect/>
          </a:stretch>
        </p:blipFill>
        <p:spPr>
          <a:xfrm>
            <a:off x="404084" y="621621"/>
            <a:ext cx="11601450" cy="1263971"/>
          </a:xfrm>
          <a:prstGeom prst="rect">
            <a:avLst/>
          </a:prstGeom>
        </p:spPr>
      </p:pic>
      <p:pic>
        <p:nvPicPr>
          <p:cNvPr id="13" name="Picture 12">
            <a:extLst>
              <a:ext uri="{FF2B5EF4-FFF2-40B4-BE49-F238E27FC236}">
                <a16:creationId xmlns:a16="http://schemas.microsoft.com/office/drawing/2014/main" id="{01137EEA-65AC-47CD-DD39-D32580106215}"/>
              </a:ext>
            </a:extLst>
          </p:cNvPr>
          <p:cNvPicPr>
            <a:picLocks noChangeAspect="1"/>
          </p:cNvPicPr>
          <p:nvPr/>
        </p:nvPicPr>
        <p:blipFill>
          <a:blip r:embed="rId5"/>
          <a:stretch>
            <a:fillRect/>
          </a:stretch>
        </p:blipFill>
        <p:spPr>
          <a:xfrm>
            <a:off x="520511" y="3975003"/>
            <a:ext cx="11241154" cy="1637851"/>
          </a:xfrm>
          <a:prstGeom prst="rect">
            <a:avLst/>
          </a:prstGeom>
        </p:spPr>
      </p:pic>
    </p:spTree>
    <p:extLst>
      <p:ext uri="{BB962C8B-B14F-4D97-AF65-F5344CB8AC3E}">
        <p14:creationId xmlns:p14="http://schemas.microsoft.com/office/powerpoint/2010/main" val="3056593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5D840-8E71-522D-8569-FB86E394F024}"/>
              </a:ext>
            </a:extLst>
          </p:cNvPr>
          <p:cNvSpPr>
            <a:spLocks noGrp="1"/>
          </p:cNvSpPr>
          <p:nvPr>
            <p:ph type="title"/>
          </p:nvPr>
        </p:nvSpPr>
        <p:spPr/>
        <p:txBody>
          <a:bodyPr/>
          <a:lstStyle/>
          <a:p>
            <a:r>
              <a:rPr lang="en-US" dirty="0"/>
              <a:t>Data Cleansing</a:t>
            </a:r>
          </a:p>
        </p:txBody>
      </p:sp>
      <p:sp>
        <p:nvSpPr>
          <p:cNvPr id="3" name="Content Placeholder 2">
            <a:extLst>
              <a:ext uri="{FF2B5EF4-FFF2-40B4-BE49-F238E27FC236}">
                <a16:creationId xmlns:a16="http://schemas.microsoft.com/office/drawing/2014/main" id="{F9FDA594-F71C-E6F3-A4B1-81351C0BD067}"/>
              </a:ext>
            </a:extLst>
          </p:cNvPr>
          <p:cNvSpPr>
            <a:spLocks noGrp="1"/>
          </p:cNvSpPr>
          <p:nvPr>
            <p:ph idx="1"/>
          </p:nvPr>
        </p:nvSpPr>
        <p:spPr/>
        <p:txBody>
          <a:bodyPr/>
          <a:lstStyle/>
          <a:p>
            <a:r>
              <a:rPr lang="en-US" dirty="0"/>
              <a:t>Once we load the data we make some changes, e.g., convert numbers stored as text into numerical objects. Unknown values are given special values in the user guide and we apply those values to filter out rows where necessary.</a:t>
            </a:r>
          </a:p>
          <a:p>
            <a:r>
              <a:rPr lang="en-US" dirty="0"/>
              <a:t>Example: Yes and No fields are assigned to 1 and 0, and unknown values are assigned </a:t>
            </a:r>
            <a:r>
              <a:rPr lang="en-US" dirty="0" err="1"/>
              <a:t>NaN</a:t>
            </a:r>
            <a:r>
              <a:rPr lang="en-US" dirty="0"/>
              <a:t>.</a:t>
            </a:r>
          </a:p>
          <a:p>
            <a:r>
              <a:rPr lang="en-US" dirty="0"/>
              <a:t>Infant deaths are tagged as 1 if the birth record can be linked to a death record. Otherwise it is tagged as 0.</a:t>
            </a:r>
          </a:p>
          <a:p>
            <a:r>
              <a:rPr lang="en-US" dirty="0"/>
              <a:t>All records where the birth weight was guessed are dropped</a:t>
            </a:r>
          </a:p>
        </p:txBody>
      </p:sp>
    </p:spTree>
    <p:extLst>
      <p:ext uri="{BB962C8B-B14F-4D97-AF65-F5344CB8AC3E}">
        <p14:creationId xmlns:p14="http://schemas.microsoft.com/office/powerpoint/2010/main" val="2727512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31984-6E31-63CD-E912-91A088AE9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40D25-766A-186D-D355-D9700B2094A4}"/>
              </a:ext>
            </a:extLst>
          </p:cNvPr>
          <p:cNvSpPr>
            <a:spLocks noGrp="1"/>
          </p:cNvSpPr>
          <p:nvPr>
            <p:ph type="title"/>
          </p:nvPr>
        </p:nvSpPr>
        <p:spPr>
          <a:xfrm>
            <a:off x="838200" y="192127"/>
            <a:ext cx="10515600" cy="1325563"/>
          </a:xfrm>
        </p:spPr>
        <p:txBody>
          <a:bodyPr/>
          <a:lstStyle/>
          <a:p>
            <a:r>
              <a:rPr lang="en-US" dirty="0"/>
              <a:t>Linking Birth and Death Records</a:t>
            </a:r>
          </a:p>
        </p:txBody>
      </p:sp>
      <p:sp>
        <p:nvSpPr>
          <p:cNvPr id="3" name="Content Placeholder 2">
            <a:extLst>
              <a:ext uri="{FF2B5EF4-FFF2-40B4-BE49-F238E27FC236}">
                <a16:creationId xmlns:a16="http://schemas.microsoft.com/office/drawing/2014/main" id="{6FA242C2-6933-57F5-AF6C-C535E07886C3}"/>
              </a:ext>
            </a:extLst>
          </p:cNvPr>
          <p:cNvSpPr>
            <a:spLocks noGrp="1"/>
          </p:cNvSpPr>
          <p:nvPr>
            <p:ph idx="1"/>
          </p:nvPr>
        </p:nvSpPr>
        <p:spPr>
          <a:xfrm>
            <a:off x="838200" y="1195435"/>
            <a:ext cx="10515600" cy="4351338"/>
          </a:xfrm>
        </p:spPr>
        <p:txBody>
          <a:bodyPr/>
          <a:lstStyle/>
          <a:p>
            <a:r>
              <a:rPr lang="en-US" dirty="0"/>
              <a:t>For a baby born in 2023, its death can occur in 2023 or 2024, so we need the two death certificate files in 2024PE2023CO </a:t>
            </a:r>
          </a:p>
          <a:p>
            <a:r>
              <a:rPr lang="en-US" dirty="0"/>
              <a:t>Death records share two values with birth records, a sequence number and year of death. We use both of these to identify a link since sequence numbers are reset each year (and thus do not link a birth to a death on their own)</a:t>
            </a:r>
          </a:p>
          <a:p>
            <a:r>
              <a:rPr lang="en-US" dirty="0"/>
              <a:t>We merge the data with the age at death and cause of death whenever applicable to the corresponding birth</a:t>
            </a:r>
          </a:p>
          <a:p>
            <a:endParaRPr lang="en-US" dirty="0"/>
          </a:p>
        </p:txBody>
      </p:sp>
      <p:pic>
        <p:nvPicPr>
          <p:cNvPr id="5" name="Picture 4">
            <a:extLst>
              <a:ext uri="{FF2B5EF4-FFF2-40B4-BE49-F238E27FC236}">
                <a16:creationId xmlns:a16="http://schemas.microsoft.com/office/drawing/2014/main" id="{4BBF8568-7401-024B-D8FD-D291BD7FECF4}"/>
              </a:ext>
            </a:extLst>
          </p:cNvPr>
          <p:cNvPicPr>
            <a:picLocks noChangeAspect="1"/>
          </p:cNvPicPr>
          <p:nvPr/>
        </p:nvPicPr>
        <p:blipFill>
          <a:blip r:embed="rId3"/>
          <a:stretch>
            <a:fillRect/>
          </a:stretch>
        </p:blipFill>
        <p:spPr>
          <a:xfrm>
            <a:off x="1074194" y="4646573"/>
            <a:ext cx="7747000" cy="2019300"/>
          </a:xfrm>
          <a:prstGeom prst="rect">
            <a:avLst/>
          </a:prstGeom>
        </p:spPr>
      </p:pic>
    </p:spTree>
    <p:extLst>
      <p:ext uri="{BB962C8B-B14F-4D97-AF65-F5344CB8AC3E}">
        <p14:creationId xmlns:p14="http://schemas.microsoft.com/office/powerpoint/2010/main" val="2750370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E7360-13E0-2F57-4D27-C5DC575E70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0B6EF-61F5-EEB9-BFC2-2DA440B3A084}"/>
              </a:ext>
            </a:extLst>
          </p:cNvPr>
          <p:cNvSpPr>
            <a:spLocks noGrp="1"/>
          </p:cNvSpPr>
          <p:nvPr>
            <p:ph type="title"/>
          </p:nvPr>
        </p:nvSpPr>
        <p:spPr/>
        <p:txBody>
          <a:bodyPr/>
          <a:lstStyle/>
          <a:p>
            <a:r>
              <a:rPr lang="en-US" dirty="0"/>
              <a:t>Data Validation</a:t>
            </a:r>
          </a:p>
        </p:txBody>
      </p:sp>
      <p:pic>
        <p:nvPicPr>
          <p:cNvPr id="9" name="Picture 8">
            <a:extLst>
              <a:ext uri="{FF2B5EF4-FFF2-40B4-BE49-F238E27FC236}">
                <a16:creationId xmlns:a16="http://schemas.microsoft.com/office/drawing/2014/main" id="{3A365E84-5112-7487-467C-13E2A2C97E20}"/>
              </a:ext>
            </a:extLst>
          </p:cNvPr>
          <p:cNvPicPr>
            <a:picLocks noChangeAspect="1"/>
          </p:cNvPicPr>
          <p:nvPr/>
        </p:nvPicPr>
        <p:blipFill>
          <a:blip r:embed="rId3"/>
          <a:stretch>
            <a:fillRect/>
          </a:stretch>
        </p:blipFill>
        <p:spPr>
          <a:xfrm>
            <a:off x="633605" y="1305157"/>
            <a:ext cx="10383790" cy="3276728"/>
          </a:xfrm>
          <a:prstGeom prst="rect">
            <a:avLst/>
          </a:prstGeom>
        </p:spPr>
      </p:pic>
      <p:pic>
        <p:nvPicPr>
          <p:cNvPr id="13" name="Picture 12">
            <a:extLst>
              <a:ext uri="{FF2B5EF4-FFF2-40B4-BE49-F238E27FC236}">
                <a16:creationId xmlns:a16="http://schemas.microsoft.com/office/drawing/2014/main" id="{F1439338-D9DD-A47D-7F7E-55E5C84BA274}"/>
              </a:ext>
            </a:extLst>
          </p:cNvPr>
          <p:cNvPicPr>
            <a:picLocks noChangeAspect="1"/>
          </p:cNvPicPr>
          <p:nvPr/>
        </p:nvPicPr>
        <p:blipFill>
          <a:blip r:embed="rId4"/>
          <a:stretch>
            <a:fillRect/>
          </a:stretch>
        </p:blipFill>
        <p:spPr>
          <a:xfrm>
            <a:off x="135196" y="4905632"/>
            <a:ext cx="11712190" cy="1747882"/>
          </a:xfrm>
          <a:prstGeom prst="rect">
            <a:avLst/>
          </a:prstGeom>
        </p:spPr>
      </p:pic>
    </p:spTree>
    <p:extLst>
      <p:ext uri="{BB962C8B-B14F-4D97-AF65-F5344CB8AC3E}">
        <p14:creationId xmlns:p14="http://schemas.microsoft.com/office/powerpoint/2010/main" val="3246661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33D5C-F2A5-08C9-5734-BB0213D5E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D6824-BD15-1031-0352-94017E4C1E77}"/>
              </a:ext>
            </a:extLst>
          </p:cNvPr>
          <p:cNvSpPr>
            <a:spLocks noGrp="1"/>
          </p:cNvSpPr>
          <p:nvPr>
            <p:ph type="title"/>
          </p:nvPr>
        </p:nvSpPr>
        <p:spPr/>
        <p:txBody>
          <a:bodyPr/>
          <a:lstStyle/>
          <a:p>
            <a:r>
              <a:rPr lang="en-US" dirty="0"/>
              <a:t>Filtering the Data</a:t>
            </a:r>
          </a:p>
        </p:txBody>
      </p:sp>
      <p:sp>
        <p:nvSpPr>
          <p:cNvPr id="3" name="Content Placeholder 2">
            <a:extLst>
              <a:ext uri="{FF2B5EF4-FFF2-40B4-BE49-F238E27FC236}">
                <a16:creationId xmlns:a16="http://schemas.microsoft.com/office/drawing/2014/main" id="{3C032C79-441E-7255-9546-74EC72DAC70D}"/>
              </a:ext>
            </a:extLst>
          </p:cNvPr>
          <p:cNvSpPr>
            <a:spLocks noGrp="1"/>
          </p:cNvSpPr>
          <p:nvPr>
            <p:ph idx="1"/>
          </p:nvPr>
        </p:nvSpPr>
        <p:spPr/>
        <p:txBody>
          <a:bodyPr/>
          <a:lstStyle/>
          <a:p>
            <a:r>
              <a:rPr lang="en-US" dirty="0"/>
              <a:t>In our analysis we started with &gt; 3.6M births. </a:t>
            </a:r>
          </a:p>
          <a:p>
            <a:r>
              <a:rPr lang="en-US" dirty="0"/>
              <a:t>Our focus on preterm births to US residents resulted in us keeping only 373902 rows in the data that correspond to this filter.</a:t>
            </a:r>
          </a:p>
          <a:p>
            <a:r>
              <a:rPr lang="en-US" dirty="0"/>
              <a:t>From there, we remove preterm births before 22 weeks and remove births where the birthweight was &gt; ~11 </a:t>
            </a:r>
            <a:r>
              <a:rPr lang="en-US" dirty="0" err="1"/>
              <a:t>lbs</a:t>
            </a:r>
            <a:r>
              <a:rPr lang="en-US" dirty="0"/>
              <a:t>, which left 370003 rows in the data. This also removed &gt;2500 deaths associated with preterm babies &lt;22 weeks old.</a:t>
            </a:r>
          </a:p>
          <a:p>
            <a:r>
              <a:rPr lang="en-US" dirty="0"/>
              <a:t>Finally, we removed rows that have missing feature data. All in we looked at 367081 birth cases.</a:t>
            </a:r>
          </a:p>
          <a:p>
            <a:endParaRPr lang="en-US" dirty="0"/>
          </a:p>
        </p:txBody>
      </p:sp>
    </p:spTree>
    <p:extLst>
      <p:ext uri="{BB962C8B-B14F-4D97-AF65-F5344CB8AC3E}">
        <p14:creationId xmlns:p14="http://schemas.microsoft.com/office/powerpoint/2010/main" val="554155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6BBF2-AB18-C07C-0DF4-4E01813548C5}"/>
              </a:ext>
            </a:extLst>
          </p:cNvPr>
          <p:cNvSpPr>
            <a:spLocks noGrp="1"/>
          </p:cNvSpPr>
          <p:nvPr>
            <p:ph type="title"/>
          </p:nvPr>
        </p:nvSpPr>
        <p:spPr/>
        <p:txBody>
          <a:bodyPr/>
          <a:lstStyle/>
          <a:p>
            <a:r>
              <a:rPr lang="en-US" dirty="0"/>
              <a:t>Choice of Cluster Features</a:t>
            </a:r>
          </a:p>
        </p:txBody>
      </p:sp>
      <p:sp>
        <p:nvSpPr>
          <p:cNvPr id="3" name="Content Placeholder 2">
            <a:extLst>
              <a:ext uri="{FF2B5EF4-FFF2-40B4-BE49-F238E27FC236}">
                <a16:creationId xmlns:a16="http://schemas.microsoft.com/office/drawing/2014/main" id="{529A2D33-E6A2-3609-2AD9-396AA6A44D14}"/>
              </a:ext>
            </a:extLst>
          </p:cNvPr>
          <p:cNvSpPr>
            <a:spLocks noGrp="1"/>
          </p:cNvSpPr>
          <p:nvPr>
            <p:ph idx="1"/>
          </p:nvPr>
        </p:nvSpPr>
        <p:spPr/>
        <p:txBody>
          <a:bodyPr/>
          <a:lstStyle/>
          <a:p>
            <a:pPr marL="0" indent="0">
              <a:buNone/>
            </a:pPr>
            <a:r>
              <a:rPr lang="en-US" dirty="0"/>
              <a:t>Rules for cluster choices: </a:t>
            </a:r>
          </a:p>
          <a:p>
            <a:pPr marL="971550" lvl="1" indent="-514350">
              <a:buFont typeface="+mj-lt"/>
              <a:buAutoNum type="arabicPeriod"/>
            </a:pPr>
            <a:r>
              <a:rPr lang="en-US" dirty="0"/>
              <a:t>Features must have been known at or before birth</a:t>
            </a:r>
          </a:p>
          <a:p>
            <a:pPr marL="971550" lvl="1" indent="-514350">
              <a:buFont typeface="+mj-lt"/>
              <a:buAutoNum type="arabicPeriod"/>
            </a:pPr>
            <a:r>
              <a:rPr lang="en-US" dirty="0"/>
              <a:t>Feature had to be a known risk factor for a preterm birth</a:t>
            </a:r>
          </a:p>
          <a:p>
            <a:pPr marL="971550" lvl="1" indent="-514350">
              <a:buFont typeface="+mj-lt"/>
              <a:buAutoNum type="arabicPeriod"/>
            </a:pPr>
            <a:endParaRPr lang="en-US" dirty="0"/>
          </a:p>
          <a:p>
            <a:pPr marL="0" indent="0">
              <a:buNone/>
            </a:pPr>
            <a:r>
              <a:rPr lang="en-US" sz="2400" dirty="0"/>
              <a:t>These features chosen were as follows: gestational age, birth weight, whether delivery was for more than one child, e.g., twins, pre-pregnancy hypertension, gestational hypertension, eclampsia, pre-pregnancy diabetes, gestational diabetes, infection (Chorioamnionitis), previous preterm birth, fertility treatments, maternal age, and smoking</a:t>
            </a:r>
          </a:p>
        </p:txBody>
      </p:sp>
    </p:spTree>
    <p:extLst>
      <p:ext uri="{BB962C8B-B14F-4D97-AF65-F5344CB8AC3E}">
        <p14:creationId xmlns:p14="http://schemas.microsoft.com/office/powerpoint/2010/main" val="410828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22372-27BA-3C63-E07B-2C89C4875F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F9C93-538B-E233-BC6F-F9B1BAF68A29}"/>
              </a:ext>
            </a:extLst>
          </p:cNvPr>
          <p:cNvSpPr>
            <a:spLocks noGrp="1"/>
          </p:cNvSpPr>
          <p:nvPr>
            <p:ph type="title"/>
          </p:nvPr>
        </p:nvSpPr>
        <p:spPr/>
        <p:txBody>
          <a:bodyPr/>
          <a:lstStyle/>
          <a:p>
            <a:r>
              <a:rPr lang="en-US" dirty="0"/>
              <a:t>Choice of K</a:t>
            </a:r>
          </a:p>
        </p:txBody>
      </p:sp>
      <p:sp>
        <p:nvSpPr>
          <p:cNvPr id="3" name="Content Placeholder 2">
            <a:extLst>
              <a:ext uri="{FF2B5EF4-FFF2-40B4-BE49-F238E27FC236}">
                <a16:creationId xmlns:a16="http://schemas.microsoft.com/office/drawing/2014/main" id="{EB27F7CD-B421-DDA4-61BD-6FF7E313C1EB}"/>
              </a:ext>
            </a:extLst>
          </p:cNvPr>
          <p:cNvSpPr>
            <a:spLocks noGrp="1"/>
          </p:cNvSpPr>
          <p:nvPr>
            <p:ph idx="1"/>
          </p:nvPr>
        </p:nvSpPr>
        <p:spPr/>
        <p:txBody>
          <a:bodyPr/>
          <a:lstStyle/>
          <a:p>
            <a:r>
              <a:rPr lang="en-US" dirty="0"/>
              <a:t>For practical purposes we look at values of K = 2, 3, …, 8 and then make a decision on a “good” value for K.</a:t>
            </a:r>
          </a:p>
          <a:p>
            <a:r>
              <a:rPr lang="en-US" dirty="0"/>
              <a:t>After we test run K-Means clustering for those different values for K, we look at two measures of quality: Inertia and Silhouette scores.</a:t>
            </a:r>
          </a:p>
          <a:p>
            <a:endParaRPr lang="en-US" dirty="0"/>
          </a:p>
        </p:txBody>
      </p:sp>
    </p:spTree>
    <p:extLst>
      <p:ext uri="{BB962C8B-B14F-4D97-AF65-F5344CB8AC3E}">
        <p14:creationId xmlns:p14="http://schemas.microsoft.com/office/powerpoint/2010/main" val="925338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6F64B-8D73-679F-3F0B-C2F886CB88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7F3B51-C384-5A02-8526-F61D8D5F30F1}"/>
              </a:ext>
            </a:extLst>
          </p:cNvPr>
          <p:cNvSpPr>
            <a:spLocks noGrp="1"/>
          </p:cNvSpPr>
          <p:nvPr>
            <p:ph type="title"/>
          </p:nvPr>
        </p:nvSpPr>
        <p:spPr/>
        <p:txBody>
          <a:bodyPr/>
          <a:lstStyle/>
          <a:p>
            <a:r>
              <a:rPr lang="en-US" dirty="0"/>
              <a:t>Choose K = 7</a:t>
            </a:r>
          </a:p>
        </p:txBody>
      </p:sp>
      <p:pic>
        <p:nvPicPr>
          <p:cNvPr id="5" name="Picture 4">
            <a:extLst>
              <a:ext uri="{FF2B5EF4-FFF2-40B4-BE49-F238E27FC236}">
                <a16:creationId xmlns:a16="http://schemas.microsoft.com/office/drawing/2014/main" id="{E698BA72-CD31-E0D9-C6A1-45AFAD22BDC9}"/>
              </a:ext>
            </a:extLst>
          </p:cNvPr>
          <p:cNvPicPr>
            <a:picLocks noChangeAspect="1"/>
          </p:cNvPicPr>
          <p:nvPr/>
        </p:nvPicPr>
        <p:blipFill>
          <a:blip r:embed="rId3"/>
          <a:stretch>
            <a:fillRect/>
          </a:stretch>
        </p:blipFill>
        <p:spPr>
          <a:xfrm>
            <a:off x="141416" y="1811638"/>
            <a:ext cx="11770498" cy="3850162"/>
          </a:xfrm>
          <a:prstGeom prst="rect">
            <a:avLst/>
          </a:prstGeom>
        </p:spPr>
      </p:pic>
    </p:spTree>
    <p:extLst>
      <p:ext uri="{BB962C8B-B14F-4D97-AF65-F5344CB8AC3E}">
        <p14:creationId xmlns:p14="http://schemas.microsoft.com/office/powerpoint/2010/main" val="1568043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72B6C-C209-5DFA-2A91-A79F1CB3C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6993EC-72EE-3314-72ED-BCD6F0831547}"/>
              </a:ext>
            </a:extLst>
          </p:cNvPr>
          <p:cNvSpPr>
            <a:spLocks noGrp="1"/>
          </p:cNvSpPr>
          <p:nvPr>
            <p:ph type="title"/>
          </p:nvPr>
        </p:nvSpPr>
        <p:spPr/>
        <p:txBody>
          <a:bodyPr/>
          <a:lstStyle/>
          <a:p>
            <a:r>
              <a:rPr lang="en-US" dirty="0"/>
              <a:t>7 Chosen Clusters</a:t>
            </a:r>
          </a:p>
        </p:txBody>
      </p:sp>
      <p:sp>
        <p:nvSpPr>
          <p:cNvPr id="3" name="Content Placeholder 2">
            <a:extLst>
              <a:ext uri="{FF2B5EF4-FFF2-40B4-BE49-F238E27FC236}">
                <a16:creationId xmlns:a16="http://schemas.microsoft.com/office/drawing/2014/main" id="{8BEC0A08-7C5E-562B-C63A-2D15AC31AFCA}"/>
              </a:ext>
            </a:extLst>
          </p:cNvPr>
          <p:cNvSpPr>
            <a:spLocks noGrp="1"/>
          </p:cNvSpPr>
          <p:nvPr>
            <p:ph idx="1"/>
          </p:nvPr>
        </p:nvSpPr>
        <p:spPr/>
        <p:txBody>
          <a:bodyPr/>
          <a:lstStyle/>
          <a:p>
            <a:r>
              <a:rPr lang="en-US" dirty="0"/>
              <a:t>Very preterm, unexplained</a:t>
            </a:r>
          </a:p>
          <a:p>
            <a:r>
              <a:rPr lang="en-US" dirty="0"/>
              <a:t>Infection associated</a:t>
            </a:r>
          </a:p>
          <a:p>
            <a:r>
              <a:rPr lang="en-US" dirty="0"/>
              <a:t>Pre-existing diabetes</a:t>
            </a:r>
          </a:p>
          <a:p>
            <a:r>
              <a:rPr lang="en-US" dirty="0"/>
              <a:t>Fertility treatment</a:t>
            </a:r>
          </a:p>
          <a:p>
            <a:r>
              <a:rPr lang="en-US" dirty="0"/>
              <a:t>Eclampsia</a:t>
            </a:r>
          </a:p>
          <a:p>
            <a:r>
              <a:rPr lang="en-US" dirty="0"/>
              <a:t>Recurrent preterm delivery</a:t>
            </a:r>
          </a:p>
          <a:p>
            <a:r>
              <a:rPr lang="en-US" dirty="0"/>
              <a:t>Late preterm, unexplained.</a:t>
            </a:r>
          </a:p>
        </p:txBody>
      </p:sp>
    </p:spTree>
    <p:extLst>
      <p:ext uri="{BB962C8B-B14F-4D97-AF65-F5344CB8AC3E}">
        <p14:creationId xmlns:p14="http://schemas.microsoft.com/office/powerpoint/2010/main" val="3333791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0FF6-7F75-6AD1-5B6D-57B2E691A6E0}"/>
            </a:ext>
          </a:extLst>
        </p:cNvPr>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AB887A61-67A8-E74B-09C5-264E4B0D2E8F}"/>
              </a:ext>
            </a:extLst>
          </p:cNvPr>
          <p:cNvPicPr>
            <a:picLocks noGrp="1" noChangeAspect="1"/>
          </p:cNvPicPr>
          <p:nvPr>
            <p:ph idx="1"/>
          </p:nvPr>
        </p:nvPicPr>
        <p:blipFill>
          <a:blip r:embed="rId3"/>
          <a:stretch>
            <a:fillRect/>
          </a:stretch>
        </p:blipFill>
        <p:spPr>
          <a:xfrm>
            <a:off x="580913" y="0"/>
            <a:ext cx="11381591" cy="6858000"/>
          </a:xfrm>
          <a:prstGeom prst="rect">
            <a:avLst/>
          </a:prstGeom>
        </p:spPr>
      </p:pic>
    </p:spTree>
    <p:extLst>
      <p:ext uri="{BB962C8B-B14F-4D97-AF65-F5344CB8AC3E}">
        <p14:creationId xmlns:p14="http://schemas.microsoft.com/office/powerpoint/2010/main" val="3845313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11B39-A061-E185-DAE3-598219522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BFBA8-BCF1-E4B3-D1BC-C066ED4925DA}"/>
              </a:ext>
            </a:extLst>
          </p:cNvPr>
          <p:cNvSpPr>
            <a:spLocks noGrp="1"/>
          </p:cNvSpPr>
          <p:nvPr>
            <p:ph type="title"/>
          </p:nvPr>
        </p:nvSpPr>
        <p:spPr/>
        <p:txBody>
          <a:bodyPr/>
          <a:lstStyle/>
          <a:p>
            <a:r>
              <a:rPr lang="en-US" dirty="0"/>
              <a:t>Use PCA to Visualize Clusters</a:t>
            </a:r>
          </a:p>
        </p:txBody>
      </p:sp>
      <p:sp>
        <p:nvSpPr>
          <p:cNvPr id="3" name="Content Placeholder 2">
            <a:extLst>
              <a:ext uri="{FF2B5EF4-FFF2-40B4-BE49-F238E27FC236}">
                <a16:creationId xmlns:a16="http://schemas.microsoft.com/office/drawing/2014/main" id="{DA7390B2-9E1B-B1D4-A7E8-F0C202CADD66}"/>
              </a:ext>
            </a:extLst>
          </p:cNvPr>
          <p:cNvSpPr>
            <a:spLocks noGrp="1"/>
          </p:cNvSpPr>
          <p:nvPr>
            <p:ph idx="1"/>
          </p:nvPr>
        </p:nvSpPr>
        <p:spPr/>
        <p:txBody>
          <a:bodyPr>
            <a:normAutofit/>
          </a:bodyPr>
          <a:lstStyle/>
          <a:p>
            <a:r>
              <a:rPr lang="en-US" dirty="0"/>
              <a:t>Principal component analysis (PCA) allows us to linearly project onto lower dimensional space to see the directions along which the data varies the most.</a:t>
            </a:r>
          </a:p>
          <a:p>
            <a:r>
              <a:rPr lang="en-US" dirty="0"/>
              <a:t>In our analysis, along the first axis variation stems from when the baby arrived (early/late preterm) together with its birth weight</a:t>
            </a:r>
          </a:p>
          <a:p>
            <a:r>
              <a:rPr lang="en-US" dirty="0"/>
              <a:t>Along the second axis, the biggest drivers are maternal age and the mother’s health, e.g., infertility treatment, pre-pregnancy hypertension, etc.</a:t>
            </a:r>
          </a:p>
          <a:p>
            <a:r>
              <a:rPr lang="en-US" dirty="0"/>
              <a:t>Some features like Eclampsia or gestational hypertension don’t register in the PCA chart</a:t>
            </a:r>
          </a:p>
          <a:p>
            <a:pPr marL="0" indent="0">
              <a:buNone/>
            </a:pPr>
            <a:endParaRPr lang="en-US" dirty="0"/>
          </a:p>
          <a:p>
            <a:endParaRPr lang="en-US" dirty="0"/>
          </a:p>
        </p:txBody>
      </p:sp>
    </p:spTree>
    <p:extLst>
      <p:ext uri="{BB962C8B-B14F-4D97-AF65-F5344CB8AC3E}">
        <p14:creationId xmlns:p14="http://schemas.microsoft.com/office/powerpoint/2010/main" val="990922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89581-A134-33BB-4BE0-D616683146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9263A6D-CFFB-AD39-8F42-27F2CCAC05C4}"/>
              </a:ext>
            </a:extLst>
          </p:cNvPr>
          <p:cNvPicPr>
            <a:picLocks noChangeAspect="1"/>
          </p:cNvPicPr>
          <p:nvPr/>
        </p:nvPicPr>
        <p:blipFill>
          <a:blip r:embed="rId3"/>
          <a:stretch>
            <a:fillRect/>
          </a:stretch>
        </p:blipFill>
        <p:spPr>
          <a:xfrm>
            <a:off x="1112109" y="106405"/>
            <a:ext cx="10107826" cy="6738551"/>
          </a:xfrm>
          <a:prstGeom prst="rect">
            <a:avLst/>
          </a:prstGeom>
        </p:spPr>
      </p:pic>
    </p:spTree>
    <p:extLst>
      <p:ext uri="{BB962C8B-B14F-4D97-AF65-F5344CB8AC3E}">
        <p14:creationId xmlns:p14="http://schemas.microsoft.com/office/powerpoint/2010/main" val="353688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02A01-402C-A3EB-83AB-4375FE71AC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F46B4-BA59-7256-3496-629BCEC446BE}"/>
              </a:ext>
            </a:extLst>
          </p:cNvPr>
          <p:cNvSpPr>
            <a:spLocks noGrp="1"/>
          </p:cNvSpPr>
          <p:nvPr>
            <p:ph type="title"/>
          </p:nvPr>
        </p:nvSpPr>
        <p:spPr/>
        <p:txBody>
          <a:bodyPr/>
          <a:lstStyle/>
          <a:p>
            <a:r>
              <a:rPr lang="en-US" dirty="0"/>
              <a:t>Gaussian Mixture Model</a:t>
            </a:r>
          </a:p>
        </p:txBody>
      </p:sp>
      <p:sp>
        <p:nvSpPr>
          <p:cNvPr id="3" name="Content Placeholder 2">
            <a:extLst>
              <a:ext uri="{FF2B5EF4-FFF2-40B4-BE49-F238E27FC236}">
                <a16:creationId xmlns:a16="http://schemas.microsoft.com/office/drawing/2014/main" id="{D50E2DD4-D4E0-201A-1CD8-431FB6954B16}"/>
              </a:ext>
            </a:extLst>
          </p:cNvPr>
          <p:cNvSpPr>
            <a:spLocks noGrp="1"/>
          </p:cNvSpPr>
          <p:nvPr>
            <p:ph idx="1"/>
          </p:nvPr>
        </p:nvSpPr>
        <p:spPr/>
        <p:txBody>
          <a:bodyPr/>
          <a:lstStyle/>
          <a:p>
            <a:r>
              <a:rPr lang="en-US" dirty="0"/>
              <a:t>K-Means will give us the clusters we ask for (as long as we have at least K datapoints).</a:t>
            </a:r>
          </a:p>
          <a:p>
            <a:r>
              <a:rPr lang="en-US" dirty="0"/>
              <a:t>How do we know if we captured the right clusters?</a:t>
            </a:r>
          </a:p>
          <a:p>
            <a:r>
              <a:rPr lang="en-US" dirty="0"/>
              <a:t>We test the same data using a Gaussian Mixture Model to give us 7 clusters.</a:t>
            </a:r>
          </a:p>
          <a:p>
            <a:r>
              <a:rPr lang="en-US" dirty="0"/>
              <a:t>GMM models each group as a normal distribution and gives a confidence level for each assignment</a:t>
            </a:r>
          </a:p>
          <a:p>
            <a:r>
              <a:rPr lang="en-US" dirty="0"/>
              <a:t>Compare the results using an Adjusted Rand Index</a:t>
            </a:r>
          </a:p>
        </p:txBody>
      </p:sp>
    </p:spTree>
    <p:extLst>
      <p:ext uri="{BB962C8B-B14F-4D97-AF65-F5344CB8AC3E}">
        <p14:creationId xmlns:p14="http://schemas.microsoft.com/office/powerpoint/2010/main" val="3538307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6F03B-560A-B1C5-D0E2-6A377A2991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F2A5D-F162-1C2E-84F7-17D03B268627}"/>
              </a:ext>
            </a:extLst>
          </p:cNvPr>
          <p:cNvSpPr>
            <a:spLocks noGrp="1"/>
          </p:cNvSpPr>
          <p:nvPr>
            <p:ph type="title"/>
          </p:nvPr>
        </p:nvSpPr>
        <p:spPr/>
        <p:txBody>
          <a:bodyPr/>
          <a:lstStyle/>
          <a:p>
            <a:r>
              <a:rPr lang="en-US" dirty="0"/>
              <a:t>GMM Results + ARI</a:t>
            </a:r>
          </a:p>
        </p:txBody>
      </p:sp>
      <p:pic>
        <p:nvPicPr>
          <p:cNvPr id="5" name="Picture 4">
            <a:extLst>
              <a:ext uri="{FF2B5EF4-FFF2-40B4-BE49-F238E27FC236}">
                <a16:creationId xmlns:a16="http://schemas.microsoft.com/office/drawing/2014/main" id="{97AFD8FC-FD99-53A2-3418-C676157BE4BB}"/>
              </a:ext>
            </a:extLst>
          </p:cNvPr>
          <p:cNvPicPr>
            <a:picLocks noChangeAspect="1"/>
          </p:cNvPicPr>
          <p:nvPr/>
        </p:nvPicPr>
        <p:blipFill>
          <a:blip r:embed="rId3"/>
          <a:stretch>
            <a:fillRect/>
          </a:stretch>
        </p:blipFill>
        <p:spPr>
          <a:xfrm>
            <a:off x="1994758" y="1453463"/>
            <a:ext cx="8792691" cy="5196431"/>
          </a:xfrm>
          <a:prstGeom prst="rect">
            <a:avLst/>
          </a:prstGeom>
        </p:spPr>
      </p:pic>
    </p:spTree>
    <p:extLst>
      <p:ext uri="{BB962C8B-B14F-4D97-AF65-F5344CB8AC3E}">
        <p14:creationId xmlns:p14="http://schemas.microsoft.com/office/powerpoint/2010/main" val="2901268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541B5-B2C6-53D2-3551-7DBAAEF8F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3BC8B-5CCF-272E-B2C6-ED1259FAEA22}"/>
              </a:ext>
            </a:extLst>
          </p:cNvPr>
          <p:cNvSpPr>
            <a:spLocks noGrp="1"/>
          </p:cNvSpPr>
          <p:nvPr>
            <p:ph type="title"/>
          </p:nvPr>
        </p:nvSpPr>
        <p:spPr/>
        <p:txBody>
          <a:bodyPr/>
          <a:lstStyle/>
          <a:p>
            <a:r>
              <a:rPr lang="en-US" dirty="0"/>
              <a:t>Survivability Analysis of the K-Means Cohorts</a:t>
            </a:r>
          </a:p>
        </p:txBody>
      </p:sp>
      <p:sp>
        <p:nvSpPr>
          <p:cNvPr id="3" name="Content Placeholder 2">
            <a:extLst>
              <a:ext uri="{FF2B5EF4-FFF2-40B4-BE49-F238E27FC236}">
                <a16:creationId xmlns:a16="http://schemas.microsoft.com/office/drawing/2014/main" id="{8A130DCB-9FA2-596C-9D79-4AE065F916C7}"/>
              </a:ext>
            </a:extLst>
          </p:cNvPr>
          <p:cNvSpPr>
            <a:spLocks noGrp="1"/>
          </p:cNvSpPr>
          <p:nvPr>
            <p:ph idx="1"/>
          </p:nvPr>
        </p:nvSpPr>
        <p:spPr/>
        <p:txBody>
          <a:bodyPr/>
          <a:lstStyle/>
          <a:p>
            <a:r>
              <a:rPr lang="en-US" dirty="0"/>
              <a:t>Since we could not generate wider agreement between our K-Means and GMM models, we stick with the K-Means clusters.</a:t>
            </a:r>
          </a:p>
          <a:p>
            <a:r>
              <a:rPr lang="en-US" dirty="0"/>
              <a:t>Then we want to understand how babies in each cluster survive during the first year</a:t>
            </a:r>
          </a:p>
          <a:p>
            <a:r>
              <a:rPr lang="en-US" dirty="0"/>
              <a:t>We use Kaplan-Meier curves to show this</a:t>
            </a:r>
          </a:p>
        </p:txBody>
      </p:sp>
    </p:spTree>
    <p:extLst>
      <p:ext uri="{BB962C8B-B14F-4D97-AF65-F5344CB8AC3E}">
        <p14:creationId xmlns:p14="http://schemas.microsoft.com/office/powerpoint/2010/main" val="1035500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3C25C-606E-3EFE-DA88-7BF1C64874D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8E7B70-11A4-3706-1920-BC7F6FD4C2B0}"/>
              </a:ext>
            </a:extLst>
          </p:cNvPr>
          <p:cNvPicPr>
            <a:picLocks noChangeAspect="1"/>
          </p:cNvPicPr>
          <p:nvPr/>
        </p:nvPicPr>
        <p:blipFill>
          <a:blip r:embed="rId3"/>
          <a:stretch>
            <a:fillRect/>
          </a:stretch>
        </p:blipFill>
        <p:spPr>
          <a:xfrm>
            <a:off x="527432" y="98855"/>
            <a:ext cx="11038492" cy="6601298"/>
          </a:xfrm>
          <a:prstGeom prst="rect">
            <a:avLst/>
          </a:prstGeom>
        </p:spPr>
      </p:pic>
    </p:spTree>
    <p:extLst>
      <p:ext uri="{BB962C8B-B14F-4D97-AF65-F5344CB8AC3E}">
        <p14:creationId xmlns:p14="http://schemas.microsoft.com/office/powerpoint/2010/main" val="2269428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0CFEC-5DC4-5BD5-E3D7-3EC62BAE574C}"/>
              </a:ext>
            </a:extLst>
          </p:cNvPr>
          <p:cNvSpPr>
            <a:spLocks noGrp="1"/>
          </p:cNvSpPr>
          <p:nvPr>
            <p:ph type="title"/>
          </p:nvPr>
        </p:nvSpPr>
        <p:spPr/>
        <p:txBody>
          <a:bodyPr/>
          <a:lstStyle/>
          <a:p>
            <a:r>
              <a:rPr lang="en-US" dirty="0"/>
              <a:t>Causes of Death in the Cluster</a:t>
            </a:r>
          </a:p>
        </p:txBody>
      </p:sp>
      <p:pic>
        <p:nvPicPr>
          <p:cNvPr id="7" name="Picture 6">
            <a:extLst>
              <a:ext uri="{FF2B5EF4-FFF2-40B4-BE49-F238E27FC236}">
                <a16:creationId xmlns:a16="http://schemas.microsoft.com/office/drawing/2014/main" id="{D1595BBD-0FEA-2AE9-9639-DA4D10C87971}"/>
              </a:ext>
            </a:extLst>
          </p:cNvPr>
          <p:cNvPicPr>
            <a:picLocks noChangeAspect="1"/>
          </p:cNvPicPr>
          <p:nvPr/>
        </p:nvPicPr>
        <p:blipFill>
          <a:blip r:embed="rId3"/>
          <a:stretch>
            <a:fillRect/>
          </a:stretch>
        </p:blipFill>
        <p:spPr>
          <a:xfrm>
            <a:off x="14573" y="1884325"/>
            <a:ext cx="12177427" cy="4012027"/>
          </a:xfrm>
          <a:prstGeom prst="rect">
            <a:avLst/>
          </a:prstGeom>
        </p:spPr>
      </p:pic>
    </p:spTree>
    <p:extLst>
      <p:ext uri="{BB962C8B-B14F-4D97-AF65-F5344CB8AC3E}">
        <p14:creationId xmlns:p14="http://schemas.microsoft.com/office/powerpoint/2010/main" val="3662006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C0B6E-A42D-C3C7-64B9-7498B562E0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E3850-6C9B-1FE4-7E43-0164CC3C0F6D}"/>
              </a:ext>
            </a:extLst>
          </p:cNvPr>
          <p:cNvSpPr>
            <a:spLocks noGrp="1"/>
          </p:cNvSpPr>
          <p:nvPr>
            <p:ph type="title"/>
          </p:nvPr>
        </p:nvSpPr>
        <p:spPr/>
        <p:txBody>
          <a:bodyPr/>
          <a:lstStyle/>
          <a:p>
            <a:r>
              <a:rPr lang="en-US" dirty="0"/>
              <a:t>Design Limitations</a:t>
            </a:r>
          </a:p>
        </p:txBody>
      </p:sp>
      <p:sp>
        <p:nvSpPr>
          <p:cNvPr id="3" name="Content Placeholder 2">
            <a:extLst>
              <a:ext uri="{FF2B5EF4-FFF2-40B4-BE49-F238E27FC236}">
                <a16:creationId xmlns:a16="http://schemas.microsoft.com/office/drawing/2014/main" id="{BCB8A8CC-C31B-D321-A174-B20C01AA2BB3}"/>
              </a:ext>
            </a:extLst>
          </p:cNvPr>
          <p:cNvSpPr>
            <a:spLocks noGrp="1"/>
          </p:cNvSpPr>
          <p:nvPr>
            <p:ph idx="1"/>
          </p:nvPr>
        </p:nvSpPr>
        <p:spPr/>
        <p:txBody>
          <a:bodyPr/>
          <a:lstStyle/>
          <a:p>
            <a:r>
              <a:rPr lang="en-US" dirty="0"/>
              <a:t>We made several assumptions about the data, e.g., ignoring preterm babies &lt; 22 weeks old and babies &gt; 11lbs at birth, which removed &gt; 2500  death links</a:t>
            </a:r>
          </a:p>
          <a:p>
            <a:r>
              <a:rPr lang="en-US" dirty="0"/>
              <a:t>Clinical data often overlaps but this often leads to lower Silhouette scores, which we saw when we did the K-Means cluster analysis</a:t>
            </a:r>
          </a:p>
          <a:p>
            <a:r>
              <a:rPr lang="en-US" dirty="0"/>
              <a:t>We could have also chosen different top values for K, e.g., &gt; 8.</a:t>
            </a:r>
          </a:p>
          <a:p>
            <a:r>
              <a:rPr lang="en-US" dirty="0"/>
              <a:t>The nature of our feature sets (many Y/N, e.g., 0 or 1 features) tended to form their own clusters, which made the GMM less robust as a method.</a:t>
            </a:r>
          </a:p>
        </p:txBody>
      </p:sp>
    </p:spTree>
    <p:extLst>
      <p:ext uri="{BB962C8B-B14F-4D97-AF65-F5344CB8AC3E}">
        <p14:creationId xmlns:p14="http://schemas.microsoft.com/office/powerpoint/2010/main" val="1016054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FF1F9-396C-F41D-BAD4-6B926DF7886D}"/>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8FC65B04-27E2-C208-F853-808EABBFB5C8}"/>
              </a:ext>
            </a:extLst>
          </p:cNvPr>
          <p:cNvSpPr>
            <a:spLocks noGrp="1"/>
          </p:cNvSpPr>
          <p:nvPr>
            <p:ph idx="1"/>
          </p:nvPr>
        </p:nvSpPr>
        <p:spPr/>
        <p:txBody>
          <a:bodyPr/>
          <a:lstStyle/>
          <a:p>
            <a:r>
              <a:rPr lang="en-US" dirty="0"/>
              <a:t>Work with MIMIC-III data, which also has information on preterm births</a:t>
            </a:r>
          </a:p>
          <a:p>
            <a:r>
              <a:rPr lang="en-US" dirty="0"/>
              <a:t>Use other clustering algorithms</a:t>
            </a:r>
          </a:p>
          <a:p>
            <a:r>
              <a:rPr lang="en-US" dirty="0"/>
              <a:t>Use social factors in our analysis, e.g., education, race, insurance type, etc., which can have an impact on preterm births</a:t>
            </a:r>
          </a:p>
        </p:txBody>
      </p:sp>
    </p:spTree>
    <p:extLst>
      <p:ext uri="{BB962C8B-B14F-4D97-AF65-F5344CB8AC3E}">
        <p14:creationId xmlns:p14="http://schemas.microsoft.com/office/powerpoint/2010/main" val="2087824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288E-B1D3-874D-ED34-DAE6DA910295}"/>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04C13890-766A-DDFF-2293-E93E27A43A56}"/>
              </a:ext>
            </a:extLst>
          </p:cNvPr>
          <p:cNvSpPr>
            <a:spLocks noGrp="1"/>
          </p:cNvSpPr>
          <p:nvPr>
            <p:ph idx="1"/>
          </p:nvPr>
        </p:nvSpPr>
        <p:spPr/>
        <p:txBody>
          <a:bodyPr/>
          <a:lstStyle/>
          <a:p>
            <a:r>
              <a:rPr lang="en-US" dirty="0"/>
              <a:t>Can use unsupervised ML methods to cluster the data</a:t>
            </a:r>
          </a:p>
          <a:p>
            <a:r>
              <a:rPr lang="en-US" dirty="0"/>
              <a:t>Clusters are highly sensitive to the methods used, features, and choices/assumptions made by us (the practitioners)</a:t>
            </a:r>
          </a:p>
          <a:p>
            <a:r>
              <a:rPr lang="en-US" dirty="0"/>
              <a:t>Overall, gestational age, e.g., how early or late the baby was born, was the most strongly associated with survivability.</a:t>
            </a:r>
          </a:p>
        </p:txBody>
      </p:sp>
    </p:spTree>
    <p:extLst>
      <p:ext uri="{BB962C8B-B14F-4D97-AF65-F5344CB8AC3E}">
        <p14:creationId xmlns:p14="http://schemas.microsoft.com/office/powerpoint/2010/main" val="39479377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A6D6D-5EBD-A26E-73B8-75BA852099B3}"/>
              </a:ext>
            </a:extLst>
          </p:cNvPr>
          <p:cNvSpPr>
            <a:spLocks noGrp="1"/>
          </p:cNvSpPr>
          <p:nvPr>
            <p:ph type="ctrTitle"/>
          </p:nvPr>
        </p:nvSpPr>
        <p:spPr>
          <a:xfrm>
            <a:off x="1524000" y="666974"/>
            <a:ext cx="9144000" cy="669944"/>
          </a:xfrm>
        </p:spPr>
        <p:txBody>
          <a:bodyPr>
            <a:normAutofit/>
          </a:bodyPr>
          <a:lstStyle/>
          <a:p>
            <a:r>
              <a:rPr lang="en-US" sz="3600" dirty="0"/>
              <a:t>Bibliography &amp; Hardware/Software Versions</a:t>
            </a:r>
          </a:p>
        </p:txBody>
      </p:sp>
      <p:sp>
        <p:nvSpPr>
          <p:cNvPr id="3" name="Subtitle 2">
            <a:extLst>
              <a:ext uri="{FF2B5EF4-FFF2-40B4-BE49-F238E27FC236}">
                <a16:creationId xmlns:a16="http://schemas.microsoft.com/office/drawing/2014/main" id="{3627A3D3-AEEB-83F6-4952-568B807B0F7D}"/>
              </a:ext>
            </a:extLst>
          </p:cNvPr>
          <p:cNvSpPr>
            <a:spLocks noGrp="1"/>
          </p:cNvSpPr>
          <p:nvPr>
            <p:ph type="subTitle" idx="1"/>
          </p:nvPr>
        </p:nvSpPr>
        <p:spPr>
          <a:xfrm>
            <a:off x="1524000" y="1570616"/>
            <a:ext cx="9144000" cy="4620410"/>
          </a:xfrm>
        </p:spPr>
        <p:txBody>
          <a:bodyPr>
            <a:noAutofit/>
          </a:bodyPr>
          <a:lstStyle/>
          <a:p>
            <a:pPr marL="342900" lvl="0" indent="-342900" algn="l">
              <a:buFont typeface="Arial" panose="020B0604020202020204" pitchFamily="34" charset="0"/>
              <a:buChar char="•"/>
            </a:pPr>
            <a:r>
              <a:rPr lang="en-US" sz="2000" dirty="0"/>
              <a:t>National Center for Health Statistics. (2026). </a:t>
            </a:r>
            <a:r>
              <a:rPr lang="en-US" sz="2000" i="1" dirty="0"/>
              <a:t>Linked birth/infant death public use file: 2024 period/2023 cohort</a:t>
            </a:r>
            <a:r>
              <a:rPr lang="en-US" sz="2000" dirty="0"/>
              <a:t> [Data set]. Centers for Disease Control and </a:t>
            </a:r>
            <a:r>
              <a:rPr lang="en-US" sz="2000" dirty="0" err="1"/>
              <a:t>Prevention.</a:t>
            </a:r>
            <a:r>
              <a:rPr lang="en-US" sz="2000" dirty="0" err="1">
                <a:hlinkClick r:id="rId2"/>
              </a:rPr>
              <a:t>https</a:t>
            </a:r>
            <a:r>
              <a:rPr lang="en-US" sz="2000" dirty="0">
                <a:hlinkClick r:id="rId2"/>
              </a:rPr>
              <a:t>://ftp.cdc.gov/pub/Health_Statistics/NCHS/Datasets/DVS/period-cohort-linked/2024PE2023CO.zip</a:t>
            </a:r>
            <a:endParaRPr lang="en-US" sz="2000" dirty="0"/>
          </a:p>
          <a:p>
            <a:pPr marL="342900" lvl="0" indent="-342900" algn="l">
              <a:buFont typeface="Arial" panose="020B0604020202020204" pitchFamily="34" charset="0"/>
              <a:buChar char="•"/>
            </a:pPr>
            <a:r>
              <a:rPr lang="en-US" sz="2000" dirty="0"/>
              <a:t>National Center for Health Statistics. (2026). </a:t>
            </a:r>
            <a:r>
              <a:rPr lang="en-US" sz="2000" i="1" dirty="0"/>
              <a:t>User guide to the 2024 period/2023 cohort linked birth/infant death public use file</a:t>
            </a:r>
            <a:r>
              <a:rPr lang="en-US" sz="2000" dirty="0"/>
              <a:t>. Centers for Disease Control and Prevention. </a:t>
            </a:r>
            <a:r>
              <a:rPr lang="en-US" sz="2000" dirty="0">
                <a:hlinkClick r:id="rId3"/>
              </a:rPr>
              <a:t>https://ftp.cdc.gov/pub/Health_Statistics/NCHS/Dataset_Documentation/DVS/period-cohort-linked/24PE23CO_linkedUG.pdf</a:t>
            </a:r>
            <a:endParaRPr lang="en-US" sz="2000" dirty="0"/>
          </a:p>
          <a:p>
            <a:pPr marL="342900" indent="-342900" algn="l">
              <a:buFont typeface="Arial" panose="020B0604020202020204" pitchFamily="34" charset="0"/>
              <a:buChar char="•"/>
            </a:pPr>
            <a:r>
              <a:rPr lang="en-US" sz="2000" dirty="0"/>
              <a:t>Python 3.12.15, pandas 2.3.3, </a:t>
            </a:r>
            <a:r>
              <a:rPr lang="en-US" sz="2000" dirty="0" err="1"/>
              <a:t>numpy</a:t>
            </a:r>
            <a:r>
              <a:rPr lang="en-US" sz="2000" dirty="0"/>
              <a:t> 2.5.4, </a:t>
            </a:r>
            <a:r>
              <a:rPr lang="en-US" sz="2000" dirty="0" err="1"/>
              <a:t>sklearn</a:t>
            </a:r>
            <a:r>
              <a:rPr lang="en-US" sz="2000" dirty="0"/>
              <a:t> 1.9.1, matplotlib 3.11.2, seaborn 0.13.2, lifelines 0.30.3</a:t>
            </a:r>
          </a:p>
          <a:p>
            <a:pPr marL="342900" indent="-342900" algn="l">
              <a:buFont typeface="Arial" panose="020B0604020202020204" pitchFamily="34" charset="0"/>
              <a:buChar char="•"/>
            </a:pPr>
            <a:r>
              <a:rPr lang="en-US" sz="2000" dirty="0"/>
              <a:t>Anthropic. (2026). </a:t>
            </a:r>
            <a:r>
              <a:rPr lang="en-US" sz="2000" i="1" dirty="0"/>
              <a:t>Claude</a:t>
            </a:r>
            <a:r>
              <a:rPr lang="en-US" sz="2000" dirty="0"/>
              <a:t> (Opus 5.5) [Large language model]. </a:t>
            </a:r>
            <a:r>
              <a:rPr lang="en-US" sz="2000" dirty="0">
                <a:hlinkClick r:id="rId4"/>
              </a:rPr>
              <a:t>https://claude.ai</a:t>
            </a:r>
            <a:endParaRPr lang="en-US" sz="2000" dirty="0"/>
          </a:p>
          <a:p>
            <a:pPr marL="342900" indent="-342900" algn="l">
              <a:buFont typeface="Arial" panose="020B0604020202020204" pitchFamily="34" charset="0"/>
              <a:buChar char="•"/>
            </a:pPr>
            <a:r>
              <a:rPr lang="en-US" sz="2000" dirty="0"/>
              <a:t>M2 MacBook Air, 24 GB RAM, macOS Tahoe Version 26.5.2</a:t>
            </a:r>
          </a:p>
        </p:txBody>
      </p:sp>
    </p:spTree>
    <p:extLst>
      <p:ext uri="{BB962C8B-B14F-4D97-AF65-F5344CB8AC3E}">
        <p14:creationId xmlns:p14="http://schemas.microsoft.com/office/powerpoint/2010/main" val="23576145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811</TotalTime>
  <Words>3399</Words>
  <Application>Microsoft Macintosh PowerPoint</Application>
  <PresentationFormat>Widescreen</PresentationFormat>
  <Paragraphs>158</Paragraphs>
  <Slides>27</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Aptos Display</vt:lpstr>
      <vt:lpstr>Arial</vt:lpstr>
      <vt:lpstr>Wingdings</vt:lpstr>
      <vt:lpstr>Office Theme</vt:lpstr>
      <vt:lpstr>Exploring Preterm Births with K-Means and Other ML Techniques</vt:lpstr>
      <vt:lpstr>Motivation</vt:lpstr>
      <vt:lpstr>PowerPoint Presentation</vt:lpstr>
      <vt:lpstr>PowerPoint Presentation</vt:lpstr>
      <vt:lpstr>CDC Linked Infant Birth and Death Records</vt:lpstr>
      <vt:lpstr>Reading in the Data</vt:lpstr>
      <vt:lpstr>PowerPoint Presentation</vt:lpstr>
      <vt:lpstr>Data Cleansing</vt:lpstr>
      <vt:lpstr>Linking Birth and Death Records</vt:lpstr>
      <vt:lpstr>Data Validation</vt:lpstr>
      <vt:lpstr>Filtering the Data</vt:lpstr>
      <vt:lpstr>Choice of Cluster Features</vt:lpstr>
      <vt:lpstr>Choice of K</vt:lpstr>
      <vt:lpstr>Choose K = 7</vt:lpstr>
      <vt:lpstr>7 Chosen Clusters</vt:lpstr>
      <vt:lpstr>PowerPoint Presentation</vt:lpstr>
      <vt:lpstr>Use PCA to Visualize Clusters</vt:lpstr>
      <vt:lpstr>PowerPoint Presentation</vt:lpstr>
      <vt:lpstr>Gaussian Mixture Model</vt:lpstr>
      <vt:lpstr>GMM Results + ARI</vt:lpstr>
      <vt:lpstr>Survivability Analysis of the K-Means Cohorts</vt:lpstr>
      <vt:lpstr>PowerPoint Presentation</vt:lpstr>
      <vt:lpstr>Causes of Death in the Cluster</vt:lpstr>
      <vt:lpstr>Design Limitations</vt:lpstr>
      <vt:lpstr>Future Work</vt:lpstr>
      <vt:lpstr>Conclusions</vt:lpstr>
      <vt:lpstr>Bibliography &amp; Hardware/Software Versions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NA</cp:lastModifiedBy>
  <cp:revision>7</cp:revision>
  <dcterms:created xsi:type="dcterms:W3CDTF">2026-10-19T04:33:44Z</dcterms:created>
  <dcterms:modified xsi:type="dcterms:W3CDTF">2026-10-19T18:17:14Z</dcterms:modified>
  <cp:category/>
</cp:coreProperties>
</file>